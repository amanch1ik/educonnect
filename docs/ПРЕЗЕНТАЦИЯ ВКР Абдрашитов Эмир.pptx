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85" r:id="rId3"/>
    <p:sldId id="284" r:id="rId4"/>
    <p:sldId id="275" r:id="rId5"/>
    <p:sldId id="271" r:id="rId6"/>
    <p:sldId id="273" r:id="rId7"/>
    <p:sldId id="286" r:id="rId8"/>
    <p:sldId id="278" r:id="rId9"/>
    <p:sldId id="279" r:id="rId10"/>
    <p:sldId id="281" r:id="rId11"/>
    <p:sldId id="28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880"/>
    <a:srgbClr val="8E9CC0"/>
    <a:srgbClr val="EBEBEB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2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41581-BB99-4EDA-9B6D-2049E05F75E3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A6389-2BB1-4E4E-B33C-98614912E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60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A6389-2BB1-4E4E-B33C-98614912EF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59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7" Type="http://schemas.openxmlformats.org/officeDocument/2006/relationships/image" Target="../media/image16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gif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472225">
            <a:off x="12804222" y="331115"/>
            <a:ext cx="7821318" cy="14747006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746BCA7-52C7-87B5-9FD0-84060C7363BC}"/>
              </a:ext>
            </a:extLst>
          </p:cNvPr>
          <p:cNvSpPr/>
          <p:nvPr/>
        </p:nvSpPr>
        <p:spPr>
          <a:xfrm>
            <a:off x="3276600" y="4419212"/>
            <a:ext cx="10395074" cy="16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800" b="1" dirty="0"/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Дипломдук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иштин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темасы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Рейстерди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издөө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билет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сатып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алуу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функциялары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менен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автовокзал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сайтынын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иштелип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чыгышы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BAA34F26-6DFB-E076-16DC-F7D15DC3CDA2}"/>
              </a:ext>
            </a:extLst>
          </p:cNvPr>
          <p:cNvSpPr/>
          <p:nvPr/>
        </p:nvSpPr>
        <p:spPr>
          <a:xfrm>
            <a:off x="12420600" y="8267700"/>
            <a:ext cx="6019800" cy="1100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Аткарган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БИ(б)-2-22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тайпасынын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студенти</a:t>
            </a:r>
            <a:b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Абдрашитов Эмир </a:t>
            </a:r>
            <a:r>
              <a:rPr lang="ru-RU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Бакытбекович</a:t>
            </a:r>
            <a:b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Жетекчи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Жолдошбек</a:t>
            </a:r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 Наргиза</a:t>
            </a:r>
            <a:endPara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5B331E-2422-BE24-60AC-CF6B33BE1DF8}"/>
              </a:ext>
            </a:extLst>
          </p:cNvPr>
          <p:cNvSpPr txBox="1"/>
          <p:nvPr/>
        </p:nvSpPr>
        <p:spPr>
          <a:xfrm>
            <a:off x="2313082" y="896457"/>
            <a:ext cx="1440179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Кыргыз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Республикасынын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илим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жогорку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билим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беруу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иновациялар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министирлиги</a:t>
            </a:r>
            <a:endParaRPr lang="ru-RU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И. Раззаков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атындагы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Кыргыз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мамлекеттик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техникалык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университети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Маалыматтык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институту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Колдонмо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математика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информатика»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кафедрасы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2CEC6CC-A7CA-FBDC-431B-5058BB336B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98" y="2171700"/>
            <a:ext cx="2426172" cy="242617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1F13E7A-0A8E-A60C-FDF6-C71D0632A7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7286" y="5728692"/>
            <a:ext cx="4833539" cy="32223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898" y="27940"/>
            <a:ext cx="3200400" cy="10640898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3" name="TextBox 23"/>
          <p:cNvSpPr txBox="1"/>
          <p:nvPr/>
        </p:nvSpPr>
        <p:spPr>
          <a:xfrm rot="16200000">
            <a:off x="-3697506" y="3657201"/>
            <a:ext cx="10456407" cy="1237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>
                <a:solidFill>
                  <a:schemeClr val="bg1"/>
                </a:solidFill>
              </a:rPr>
              <a:t>ТЕМАНЫН АКТУАЛДУУЛУГУ:</a:t>
            </a:r>
            <a:endParaRPr lang="ru-RU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4343400" y="1866900"/>
            <a:ext cx="12725400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Бүгүнкү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күндө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Кыргызстандагы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көпчүлүк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офлайн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режимде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иштейт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Жүргүнчүлөр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тууралуу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болгону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ошол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жерден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алышат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мүмкүнчүлүгү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жок.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учурда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бош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боюнча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түшүнбөстүктөр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жаралат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Ошондуктан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автовокзал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үчүн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веб-сайт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маалыматка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жетүүнү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жеңилдетет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онлайн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брондоону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киргизет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бош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орундардагы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баш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аламандыкты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азайтат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жүргүнчүлөр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үчүн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ыңгайлуулукту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жогорулатат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27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-169404"/>
            <a:ext cx="3200400" cy="10640898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4" name="Freeform 4"/>
          <p:cNvSpPr/>
          <p:nvPr/>
        </p:nvSpPr>
        <p:spPr>
          <a:xfrm>
            <a:off x="16558696" y="3545071"/>
            <a:ext cx="1237342" cy="998872"/>
          </a:xfrm>
          <a:custGeom>
            <a:avLst/>
            <a:gdLst/>
            <a:ahLst/>
            <a:cxnLst/>
            <a:rect l="l" t="t" r="r" b="b"/>
            <a:pathLst>
              <a:path w="1237342" h="998872">
                <a:moveTo>
                  <a:pt x="0" y="0"/>
                </a:moveTo>
                <a:lnTo>
                  <a:pt x="1237341" y="0"/>
                </a:lnTo>
                <a:lnTo>
                  <a:pt x="1237341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80307" y="5426539"/>
            <a:ext cx="969814" cy="998872"/>
          </a:xfrm>
          <a:custGeom>
            <a:avLst/>
            <a:gdLst/>
            <a:ahLst/>
            <a:cxnLst/>
            <a:rect l="l" t="t" r="r" b="b"/>
            <a:pathLst>
              <a:path w="969814" h="998872">
                <a:moveTo>
                  <a:pt x="0" y="0"/>
                </a:moveTo>
                <a:lnTo>
                  <a:pt x="969814" y="0"/>
                </a:lnTo>
                <a:lnTo>
                  <a:pt x="969814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86103" y="1769362"/>
            <a:ext cx="982527" cy="998872"/>
          </a:xfrm>
          <a:custGeom>
            <a:avLst/>
            <a:gdLst/>
            <a:ahLst/>
            <a:cxnLst/>
            <a:rect l="l" t="t" r="r" b="b"/>
            <a:pathLst>
              <a:path w="982527" h="998872">
                <a:moveTo>
                  <a:pt x="0" y="0"/>
                </a:moveTo>
                <a:lnTo>
                  <a:pt x="982527" y="0"/>
                </a:lnTo>
                <a:lnTo>
                  <a:pt x="982527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339331" y="3553143"/>
            <a:ext cx="851766" cy="998872"/>
          </a:xfrm>
          <a:custGeom>
            <a:avLst/>
            <a:gdLst/>
            <a:ahLst/>
            <a:cxnLst/>
            <a:rect l="l" t="t" r="r" b="b"/>
            <a:pathLst>
              <a:path w="851766" h="998872">
                <a:moveTo>
                  <a:pt x="0" y="0"/>
                </a:moveTo>
                <a:lnTo>
                  <a:pt x="851766" y="0"/>
                </a:lnTo>
                <a:lnTo>
                  <a:pt x="851766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174483" y="1777434"/>
            <a:ext cx="1181462" cy="998872"/>
          </a:xfrm>
          <a:custGeom>
            <a:avLst/>
            <a:gdLst/>
            <a:ahLst/>
            <a:cxnLst/>
            <a:rect l="l" t="t" r="r" b="b"/>
            <a:pathLst>
              <a:path w="1181462" h="998872">
                <a:moveTo>
                  <a:pt x="0" y="0"/>
                </a:moveTo>
                <a:lnTo>
                  <a:pt x="1181462" y="0"/>
                </a:lnTo>
                <a:lnTo>
                  <a:pt x="1181462" y="998872"/>
                </a:lnTo>
                <a:lnTo>
                  <a:pt x="0" y="9988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459200" y="5345981"/>
            <a:ext cx="1436333" cy="1143844"/>
          </a:xfrm>
          <a:custGeom>
            <a:avLst/>
            <a:gdLst/>
            <a:ahLst/>
            <a:cxnLst/>
            <a:rect l="l" t="t" r="r" b="b"/>
            <a:pathLst>
              <a:path w="1436333" h="1143844">
                <a:moveTo>
                  <a:pt x="0" y="0"/>
                </a:moveTo>
                <a:lnTo>
                  <a:pt x="1436333" y="0"/>
                </a:lnTo>
                <a:lnTo>
                  <a:pt x="1436333" y="1143844"/>
                </a:lnTo>
                <a:lnTo>
                  <a:pt x="0" y="11438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205851" y="7322480"/>
            <a:ext cx="1118726" cy="1118726"/>
          </a:xfrm>
          <a:custGeom>
            <a:avLst/>
            <a:gdLst/>
            <a:ahLst/>
            <a:cxnLst/>
            <a:rect l="l" t="t" r="r" b="b"/>
            <a:pathLst>
              <a:path w="1118726" h="1118726">
                <a:moveTo>
                  <a:pt x="0" y="0"/>
                </a:moveTo>
                <a:lnTo>
                  <a:pt x="1118726" y="0"/>
                </a:lnTo>
                <a:lnTo>
                  <a:pt x="1118726" y="1118727"/>
                </a:lnTo>
                <a:lnTo>
                  <a:pt x="0" y="1118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652086" y="7331737"/>
            <a:ext cx="1050561" cy="1084069"/>
          </a:xfrm>
          <a:custGeom>
            <a:avLst/>
            <a:gdLst/>
            <a:ahLst/>
            <a:cxnLst/>
            <a:rect l="l" t="t" r="r" b="b"/>
            <a:pathLst>
              <a:path w="1050561" h="1084069">
                <a:moveTo>
                  <a:pt x="0" y="0"/>
                </a:moveTo>
                <a:lnTo>
                  <a:pt x="1050561" y="0"/>
                </a:lnTo>
                <a:lnTo>
                  <a:pt x="1050561" y="1084069"/>
                </a:lnTo>
                <a:lnTo>
                  <a:pt x="0" y="1084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 rot="16200000">
            <a:off x="-2792487" y="4055325"/>
            <a:ext cx="8610601" cy="1237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>
                <a:solidFill>
                  <a:schemeClr val="bg1"/>
                </a:solidFill>
              </a:rPr>
              <a:t>Максат </a:t>
            </a:r>
            <a:r>
              <a:rPr lang="ru-RU" sz="6000" dirty="0" err="1">
                <a:solidFill>
                  <a:schemeClr val="bg1"/>
                </a:solidFill>
              </a:rPr>
              <a:t>жана</a:t>
            </a:r>
            <a:r>
              <a:rPr lang="ru-RU" sz="6000" dirty="0">
                <a:solidFill>
                  <a:schemeClr val="bg1"/>
                </a:solidFill>
              </a:rPr>
              <a:t> </a:t>
            </a:r>
            <a:r>
              <a:rPr lang="ru-RU" sz="6000" dirty="0" err="1">
                <a:solidFill>
                  <a:schemeClr val="bg1"/>
                </a:solidFill>
              </a:rPr>
              <a:t>милдеттер</a:t>
            </a: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3664696" y="984532"/>
            <a:ext cx="11344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ИШТИН МАКСАТЫ: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тууралуу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берүү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мүмкүнчүлүгү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 «Автовокзал» веб-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r>
              <a:rPr lang="ru-RU" sz="32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3607916" y="3996835"/>
            <a:ext cx="113447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ИШТИН МИЛДЕТТЕРИ: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Кыргызстандагы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автовокзалдардын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ишин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талдоо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Сайттын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түзүмүн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долбоорлоо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Маалыматтар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базасын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түзүү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Маршруттарды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рейстерди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көрсөтүү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функциясын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ишке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ашыруу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Орун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системасын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Админ-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панелди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түзүү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Системаны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тестирлөө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81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700" y="0"/>
            <a:ext cx="8686800" cy="10640898"/>
          </a:xfrm>
          <a:prstGeom prst="rect">
            <a:avLst/>
          </a:prstGeom>
          <a:solidFill>
            <a:srgbClr val="1D3880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23" name="TextBox 23"/>
          <p:cNvSpPr txBox="1"/>
          <p:nvPr/>
        </p:nvSpPr>
        <p:spPr>
          <a:xfrm>
            <a:off x="1447800" y="1409700"/>
            <a:ext cx="5600700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y-KG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ИЗИЛДӨӨ ОБЪЕКТИ</a:t>
            </a:r>
          </a:p>
          <a:p>
            <a:br>
              <a:rPr lang="ky-KG" sz="3200" dirty="0"/>
            </a:b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6000" y="3162300"/>
            <a:ext cx="67564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y-K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Автовокзалдарда жүргүнчүлөрдү ташууну уюштуруу процесси, анын ичинде рейс жөнүндө маалымат берүү, жүргүнчүлөр менен иштөө жана орун ээлеп коюуну башкаруу.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10272450" y="3162300"/>
            <a:ext cx="610033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 тиркеменин жардамы менен автовокзалдын ишин автоматташтыруу ыкмалары жана инструменттери, анын ичинде графикти көрсөтүү тутуму жана онлайн орун ээлеп коюу.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439400" y="1378974"/>
            <a:ext cx="5036956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y-KG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ИЗИЛДӨӨ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ПРЕДМЕТИ</a:t>
            </a:r>
            <a:endParaRPr lang="ky-KG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38"/>
          <p:cNvSpPr/>
          <p:nvPr/>
        </p:nvSpPr>
        <p:spPr>
          <a:xfrm>
            <a:off x="0" y="1"/>
            <a:ext cx="18288000" cy="2628900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39" name="Freeform 39"/>
          <p:cNvSpPr/>
          <p:nvPr/>
        </p:nvSpPr>
        <p:spPr>
          <a:xfrm>
            <a:off x="0" y="1"/>
            <a:ext cx="18288000" cy="2628900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41" name="TextBox 41"/>
          <p:cNvSpPr txBox="1"/>
          <p:nvPr/>
        </p:nvSpPr>
        <p:spPr>
          <a:xfrm>
            <a:off x="1529788" y="726559"/>
            <a:ext cx="1514437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ru-RU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Методдор</a:t>
            </a:r>
            <a:endParaRPr lang="en-US" sz="6525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BD8B8-F9A6-B30B-9230-4F9A83A18594}"/>
              </a:ext>
            </a:extLst>
          </p:cNvPr>
          <p:cNvSpPr txBox="1"/>
          <p:nvPr/>
        </p:nvSpPr>
        <p:spPr>
          <a:xfrm>
            <a:off x="1143000" y="4305300"/>
            <a:ext cx="73979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ИШТЕП ЧЫГУУ ЫКМАЛАРЫ: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Предметтик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аймакты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талдоо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Веб-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сайттын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структурасын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долбоорлоо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Программалоо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Тестирлөө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каталарды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оңдоо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6CE625-C14D-728A-29E2-77CD3D72A5DD}"/>
              </a:ext>
            </a:extLst>
          </p:cNvPr>
          <p:cNvSpPr txBox="1"/>
          <p:nvPr/>
        </p:nvSpPr>
        <p:spPr>
          <a:xfrm>
            <a:off x="10058400" y="4076700"/>
            <a:ext cx="6071086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ИШТЕП ЧЫГУУ ЭТАПТАРЫ: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Талаптарды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талдоо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базасын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түзүү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Интерфейсти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функциясын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түзүү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Админ-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панелди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ишке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ашыруу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Тестирлөө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3">
            <a:extLst>
              <a:ext uri="{FF2B5EF4-FFF2-40B4-BE49-F238E27FC236}">
                <a16:creationId xmlns:a16="http://schemas.microsoft.com/office/drawing/2014/main" id="{FA22F63E-6569-5D56-7458-05EEF5492B4B}"/>
              </a:ext>
            </a:extLst>
          </p:cNvPr>
          <p:cNvSpPr/>
          <p:nvPr/>
        </p:nvSpPr>
        <p:spPr>
          <a:xfrm>
            <a:off x="213846" y="3139394"/>
            <a:ext cx="26270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66" name="AutoShape 3">
            <a:extLst>
              <a:ext uri="{FF2B5EF4-FFF2-40B4-BE49-F238E27FC236}">
                <a16:creationId xmlns:a16="http://schemas.microsoft.com/office/drawing/2014/main" id="{44977803-19D2-60C2-C41E-87C2F7F77A57}"/>
              </a:ext>
            </a:extLst>
          </p:cNvPr>
          <p:cNvSpPr/>
          <p:nvPr/>
        </p:nvSpPr>
        <p:spPr>
          <a:xfrm>
            <a:off x="3428623" y="3139393"/>
            <a:ext cx="26270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67" name="AutoShape 3">
            <a:extLst>
              <a:ext uri="{FF2B5EF4-FFF2-40B4-BE49-F238E27FC236}">
                <a16:creationId xmlns:a16="http://schemas.microsoft.com/office/drawing/2014/main" id="{5DF8D18B-B44E-95FC-AF3A-B84A4EEB77FB}"/>
              </a:ext>
            </a:extLst>
          </p:cNvPr>
          <p:cNvSpPr/>
          <p:nvPr/>
        </p:nvSpPr>
        <p:spPr>
          <a:xfrm>
            <a:off x="6329145" y="3164684"/>
            <a:ext cx="26270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68" name="AutoShape 3">
            <a:extLst>
              <a:ext uri="{FF2B5EF4-FFF2-40B4-BE49-F238E27FC236}">
                <a16:creationId xmlns:a16="http://schemas.microsoft.com/office/drawing/2014/main" id="{87320988-958B-8E05-7AD0-5DE0B2545F5E}"/>
              </a:ext>
            </a:extLst>
          </p:cNvPr>
          <p:cNvSpPr/>
          <p:nvPr/>
        </p:nvSpPr>
        <p:spPr>
          <a:xfrm>
            <a:off x="9127474" y="3160590"/>
            <a:ext cx="26270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69" name="AutoShape 3">
            <a:extLst>
              <a:ext uri="{FF2B5EF4-FFF2-40B4-BE49-F238E27FC236}">
                <a16:creationId xmlns:a16="http://schemas.microsoft.com/office/drawing/2014/main" id="{9E4714B8-3AED-82BC-ACED-6841274A9D52}"/>
              </a:ext>
            </a:extLst>
          </p:cNvPr>
          <p:cNvSpPr/>
          <p:nvPr/>
        </p:nvSpPr>
        <p:spPr>
          <a:xfrm>
            <a:off x="12098159" y="3139393"/>
            <a:ext cx="26270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70" name="AutoShape 3">
            <a:extLst>
              <a:ext uri="{FF2B5EF4-FFF2-40B4-BE49-F238E27FC236}">
                <a16:creationId xmlns:a16="http://schemas.microsoft.com/office/drawing/2014/main" id="{B982BDA6-5BB6-98AA-F337-01B63719949F}"/>
              </a:ext>
            </a:extLst>
          </p:cNvPr>
          <p:cNvSpPr/>
          <p:nvPr/>
        </p:nvSpPr>
        <p:spPr>
          <a:xfrm>
            <a:off x="15184034" y="3160590"/>
            <a:ext cx="26270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71" name="AutoShape 3">
            <a:extLst>
              <a:ext uri="{FF2B5EF4-FFF2-40B4-BE49-F238E27FC236}">
                <a16:creationId xmlns:a16="http://schemas.microsoft.com/office/drawing/2014/main" id="{550A4B37-3E78-DFB7-EE39-46CB54DFB574}"/>
              </a:ext>
            </a:extLst>
          </p:cNvPr>
          <p:cNvSpPr/>
          <p:nvPr/>
        </p:nvSpPr>
        <p:spPr>
          <a:xfrm>
            <a:off x="243648" y="6277333"/>
            <a:ext cx="26270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</p:sp>
      <p:sp>
        <p:nvSpPr>
          <p:cNvPr id="72" name="AutoShape 3">
            <a:extLst>
              <a:ext uri="{FF2B5EF4-FFF2-40B4-BE49-F238E27FC236}">
                <a16:creationId xmlns:a16="http://schemas.microsoft.com/office/drawing/2014/main" id="{96504189-833F-D8E3-77EE-381F2218D16B}"/>
              </a:ext>
            </a:extLst>
          </p:cNvPr>
          <p:cNvSpPr/>
          <p:nvPr/>
        </p:nvSpPr>
        <p:spPr>
          <a:xfrm>
            <a:off x="3443377" y="6248832"/>
            <a:ext cx="26270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</p:sp>
      <p:sp>
        <p:nvSpPr>
          <p:cNvPr id="73" name="AutoShape 3">
            <a:extLst>
              <a:ext uri="{FF2B5EF4-FFF2-40B4-BE49-F238E27FC236}">
                <a16:creationId xmlns:a16="http://schemas.microsoft.com/office/drawing/2014/main" id="{D22848EB-5E2E-F5B0-EC16-189E4B316152}"/>
              </a:ext>
            </a:extLst>
          </p:cNvPr>
          <p:cNvSpPr/>
          <p:nvPr/>
        </p:nvSpPr>
        <p:spPr>
          <a:xfrm>
            <a:off x="6343899" y="6274123"/>
            <a:ext cx="26270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</p:sp>
      <p:sp>
        <p:nvSpPr>
          <p:cNvPr id="74" name="AutoShape 3">
            <a:extLst>
              <a:ext uri="{FF2B5EF4-FFF2-40B4-BE49-F238E27FC236}">
                <a16:creationId xmlns:a16="http://schemas.microsoft.com/office/drawing/2014/main" id="{85B28D25-A9F6-8044-E1D7-D8A42A09E812}"/>
              </a:ext>
            </a:extLst>
          </p:cNvPr>
          <p:cNvSpPr/>
          <p:nvPr/>
        </p:nvSpPr>
        <p:spPr>
          <a:xfrm>
            <a:off x="9142228" y="6270029"/>
            <a:ext cx="26270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75" name="AutoShape 3">
            <a:extLst>
              <a:ext uri="{FF2B5EF4-FFF2-40B4-BE49-F238E27FC236}">
                <a16:creationId xmlns:a16="http://schemas.microsoft.com/office/drawing/2014/main" id="{ADA6AF23-4001-BEA9-BF1F-3F2DBF11FB56}"/>
              </a:ext>
            </a:extLst>
          </p:cNvPr>
          <p:cNvSpPr/>
          <p:nvPr/>
        </p:nvSpPr>
        <p:spPr>
          <a:xfrm>
            <a:off x="11998283" y="6270028"/>
            <a:ext cx="26270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</p:sp>
      <p:sp>
        <p:nvSpPr>
          <p:cNvPr id="76" name="AutoShape 3">
            <a:extLst>
              <a:ext uri="{FF2B5EF4-FFF2-40B4-BE49-F238E27FC236}">
                <a16:creationId xmlns:a16="http://schemas.microsoft.com/office/drawing/2014/main" id="{E4901223-41EF-3A84-8C04-959252BA1844}"/>
              </a:ext>
            </a:extLst>
          </p:cNvPr>
          <p:cNvSpPr/>
          <p:nvPr/>
        </p:nvSpPr>
        <p:spPr>
          <a:xfrm>
            <a:off x="15198788" y="6270029"/>
            <a:ext cx="26270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</p:sp>
      <p:sp>
        <p:nvSpPr>
          <p:cNvPr id="2" name="AutoShape 2"/>
          <p:cNvSpPr/>
          <p:nvPr/>
        </p:nvSpPr>
        <p:spPr>
          <a:xfrm>
            <a:off x="-150861" y="-222954"/>
            <a:ext cx="18586178" cy="3325171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3" name="TextBox 3"/>
          <p:cNvSpPr txBox="1"/>
          <p:nvPr/>
        </p:nvSpPr>
        <p:spPr>
          <a:xfrm>
            <a:off x="4191000" y="190866"/>
            <a:ext cx="18021301" cy="1237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Системанын</a:t>
            </a:r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4748" y="3084873"/>
            <a:ext cx="18586178" cy="3093947"/>
          </a:xfrm>
          <a:prstGeom prst="rect">
            <a:avLst/>
          </a:prstGeom>
          <a:solidFill>
            <a:srgbClr val="CCCCCC">
              <a:alpha val="49804"/>
            </a:srgbClr>
          </a:solidFill>
        </p:spPr>
        <p:txBody>
          <a:bodyPr/>
          <a:lstStyle/>
          <a:p>
            <a:endParaRPr lang="ru-RU" dirty="0"/>
          </a:p>
        </p:txBody>
      </p:sp>
      <p:grpSp>
        <p:nvGrpSpPr>
          <p:cNvPr id="5" name="Group 5"/>
          <p:cNvGrpSpPr/>
          <p:nvPr/>
        </p:nvGrpSpPr>
        <p:grpSpPr>
          <a:xfrm>
            <a:off x="157287" y="3355819"/>
            <a:ext cx="2698394" cy="1864232"/>
            <a:chOff x="0" y="0"/>
            <a:chExt cx="3597859" cy="2485643"/>
          </a:xfrm>
        </p:grpSpPr>
        <p:sp>
          <p:nvSpPr>
            <p:cNvPr id="6" name="TextBox 6"/>
            <p:cNvSpPr txBox="1"/>
            <p:nvPr/>
          </p:nvSpPr>
          <p:spPr>
            <a:xfrm>
              <a:off x="0" y="854256"/>
              <a:ext cx="3597859" cy="163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Маршрутту</a:t>
              </a:r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тандоо</a:t>
              </a:r>
              <a:endPara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98553" y="0"/>
              <a:ext cx="2200754" cy="75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Rubik"/>
                  <a:cs typeface="Times New Roman" panose="02020603050405020304" pitchFamily="18" charset="0"/>
                  <a:sym typeface="Rubik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8773" y="6888367"/>
            <a:ext cx="262708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Колдонуучу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керектүү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багытты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тандайт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мисалы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Кемин, Токмок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ж.б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655107" y="3223650"/>
            <a:ext cx="2379782" cy="1857090"/>
            <a:chOff x="0" y="0"/>
            <a:chExt cx="3173042" cy="247611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44733"/>
              <a:ext cx="3173042" cy="1631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Рейстерди</a:t>
              </a:r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көрүү</a:t>
              </a:r>
              <a:endParaRPr 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799" y="0"/>
              <a:ext cx="2405445" cy="75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>
                  <a:solidFill>
                    <a:srgbClr val="000000"/>
                  </a:solidFill>
                  <a:latin typeface="Times New Roman" panose="02020603050405020304" pitchFamily="18" charset="0"/>
                  <a:ea typeface="Rubik"/>
                  <a:cs typeface="Times New Roman" panose="02020603050405020304" pitchFamily="18" charset="0"/>
                  <a:sym typeface="Rubik"/>
                </a:rPr>
                <a:t>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514590" y="7013403"/>
            <a:ext cx="2698394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Жеткиликтүү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рейстердин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тизмеси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жөнөө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убактысы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көрсөтүлөт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530316" y="3269239"/>
            <a:ext cx="2379782" cy="1840435"/>
            <a:chOff x="-433" y="-194547"/>
            <a:chExt cx="3173042" cy="2453913"/>
          </a:xfrm>
        </p:grpSpPr>
        <p:sp>
          <p:nvSpPr>
            <p:cNvPr id="14" name="TextBox 14"/>
            <p:cNvSpPr txBox="1"/>
            <p:nvPr/>
          </p:nvSpPr>
          <p:spPr>
            <a:xfrm>
              <a:off x="-433" y="627980"/>
              <a:ext cx="3173042" cy="1631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Орундардын</a:t>
              </a:r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санын</a:t>
              </a:r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тандоо</a:t>
              </a:r>
              <a:endParaRPr 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124" y="-194547"/>
              <a:ext cx="2251926" cy="75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Rubik"/>
                  <a:cs typeface="Times New Roman" panose="02020603050405020304" pitchFamily="18" charset="0"/>
                  <a:sym typeface="Rubik"/>
                </a:rPr>
                <a:t>3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481564" y="7072256"/>
            <a:ext cx="269839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Колдонуучу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керектүү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тандайт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9281249" y="3323331"/>
            <a:ext cx="2379782" cy="1274497"/>
            <a:chOff x="0" y="216988"/>
            <a:chExt cx="3173042" cy="169933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46706"/>
              <a:ext cx="3173042" cy="769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Брондоо</a:t>
              </a:r>
              <a:endParaRPr 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7039" y="216988"/>
              <a:ext cx="2558965" cy="75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Rubik"/>
                  <a:cs typeface="Times New Roman" panose="02020603050405020304" pitchFamily="18" charset="0"/>
                  <a:sym typeface="Rubik"/>
                </a:rPr>
                <a:t>4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244421" y="7256922"/>
            <a:ext cx="269839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маалыматтарын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сактайт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1944788" y="3199853"/>
            <a:ext cx="2976137" cy="2495085"/>
            <a:chOff x="0" y="0"/>
            <a:chExt cx="3968182" cy="3326779"/>
          </a:xfrm>
        </p:grpSpPr>
        <p:sp>
          <p:nvSpPr>
            <p:cNvPr id="22" name="TextBox 22"/>
            <p:cNvSpPr txBox="1"/>
            <p:nvPr/>
          </p:nvSpPr>
          <p:spPr>
            <a:xfrm>
              <a:off x="0" y="844733"/>
              <a:ext cx="3968182" cy="24820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Маалыматтарды</a:t>
              </a:r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жаңыртуу</a:t>
              </a:r>
              <a:b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sz="2800" u="none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783" y="0"/>
              <a:ext cx="2456618" cy="75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Rubik"/>
                  <a:cs typeface="Times New Roman" panose="02020603050405020304" pitchFamily="18" charset="0"/>
                  <a:sym typeface="Rubik"/>
                </a:rPr>
                <a:t>5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200411" y="7232925"/>
            <a:ext cx="269839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Бош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саны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автоматтык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түрдө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азаят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A5A1A-FF40-4C7F-C30A-9440D07EDA42}"/>
              </a:ext>
            </a:extLst>
          </p:cNvPr>
          <p:cNvSpPr txBox="1"/>
          <p:nvPr/>
        </p:nvSpPr>
        <p:spPr>
          <a:xfrm>
            <a:off x="924729" y="1922082"/>
            <a:ext cx="9601200" cy="669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Алгоритмдин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негизги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этаптары</a:t>
            </a: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21">
            <a:extLst>
              <a:ext uri="{FF2B5EF4-FFF2-40B4-BE49-F238E27FC236}">
                <a16:creationId xmlns:a16="http://schemas.microsoft.com/office/drawing/2014/main" id="{CE697170-CAC8-200A-EB6E-67D7E6FD4112}"/>
              </a:ext>
            </a:extLst>
          </p:cNvPr>
          <p:cNvGrpSpPr/>
          <p:nvPr/>
        </p:nvGrpSpPr>
        <p:grpSpPr>
          <a:xfrm>
            <a:off x="15011951" y="3201044"/>
            <a:ext cx="2691536" cy="1857090"/>
            <a:chOff x="1" y="0"/>
            <a:chExt cx="3588714" cy="2476119"/>
          </a:xfrm>
        </p:grpSpPr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159ADE83-CEE4-F7EE-B0A0-6A4BA491DF77}"/>
                </a:ext>
              </a:extLst>
            </p:cNvPr>
            <p:cNvSpPr txBox="1"/>
            <p:nvPr/>
          </p:nvSpPr>
          <p:spPr>
            <a:xfrm>
              <a:off x="1" y="844733"/>
              <a:ext cx="3588714" cy="16313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ct val="150000"/>
                </a:lnSpc>
                <a:spcBef>
                  <a:spcPct val="0"/>
                </a:spcBef>
              </a:pPr>
              <a:r>
                <a:rPr lang="ru-RU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Башкаруу</a:t>
              </a:r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(админ))</a:t>
              </a:r>
              <a:endParaRPr 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BFA21C8F-DD25-8758-C9EA-DB218672DEFA}"/>
                </a:ext>
              </a:extLst>
            </p:cNvPr>
            <p:cNvSpPr txBox="1"/>
            <p:nvPr/>
          </p:nvSpPr>
          <p:spPr>
            <a:xfrm>
              <a:off x="755783" y="0"/>
              <a:ext cx="2456618" cy="7584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Rubik"/>
                  <a:cs typeface="Times New Roman" panose="02020603050405020304" pitchFamily="18" charset="0"/>
                  <a:sym typeface="Rubik"/>
                </a:rPr>
                <a:t>6</a:t>
              </a:r>
              <a:endPara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Rubik"/>
                <a:cs typeface="Times New Roman" panose="02020603050405020304" pitchFamily="18" charset="0"/>
                <a:sym typeface="Rubik"/>
              </a:endParaRPr>
            </a:p>
          </p:txBody>
        </p:sp>
      </p:grpSp>
      <p:sp>
        <p:nvSpPr>
          <p:cNvPr id="64" name="TextBox 24">
            <a:extLst>
              <a:ext uri="{FF2B5EF4-FFF2-40B4-BE49-F238E27FC236}">
                <a16:creationId xmlns:a16="http://schemas.microsoft.com/office/drawing/2014/main" id="{6BB2AA14-4634-46D9-EE69-52E700C15CA2}"/>
              </a:ext>
            </a:extLst>
          </p:cNvPr>
          <p:cNvSpPr txBox="1"/>
          <p:nvPr/>
        </p:nvSpPr>
        <p:spPr>
          <a:xfrm>
            <a:off x="15361006" y="7171678"/>
            <a:ext cx="269839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кошо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алат,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өзгөртөт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өчүрөт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9089" y="-149089"/>
            <a:ext cx="18586178" cy="3325171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3" name="TextBox 3"/>
          <p:cNvSpPr txBox="1"/>
          <p:nvPr/>
        </p:nvSpPr>
        <p:spPr>
          <a:xfrm>
            <a:off x="1515278" y="368904"/>
            <a:ext cx="18021301" cy="1237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КОЛДОНУЛГАН ТЕХНОЛОГИЯЛАР: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81249" y="3160590"/>
            <a:ext cx="2379782" cy="1216711"/>
            <a:chOff x="0" y="0"/>
            <a:chExt cx="3173042" cy="1622282"/>
          </a:xfrm>
        </p:grpSpPr>
        <p:sp>
          <p:nvSpPr>
            <p:cNvPr id="18" name="TextBox 18"/>
            <p:cNvSpPr txBox="1"/>
            <p:nvPr/>
          </p:nvSpPr>
          <p:spPr>
            <a:xfrm>
              <a:off x="0" y="863783"/>
              <a:ext cx="3173042" cy="75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ct val="150000"/>
                </a:lnSpc>
                <a:spcBef>
                  <a:spcPct val="0"/>
                </a:spcBef>
              </a:pPr>
              <a:endParaRPr 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7039" y="0"/>
              <a:ext cx="2558965" cy="758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Rubik"/>
                <a:cs typeface="Times New Roman" panose="02020603050405020304" pitchFamily="18" charset="0"/>
                <a:sym typeface="Rubik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80A5A1A-FF40-4C7F-C30A-9440D07EDA42}"/>
              </a:ext>
            </a:extLst>
          </p:cNvPr>
          <p:cNvSpPr txBox="1"/>
          <p:nvPr/>
        </p:nvSpPr>
        <p:spPr>
          <a:xfrm>
            <a:off x="924729" y="1922082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процессинде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төмөнкүлөр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колдонулган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7" name="AutoShape 3">
            <a:extLst>
              <a:ext uri="{FF2B5EF4-FFF2-40B4-BE49-F238E27FC236}">
                <a16:creationId xmlns:a16="http://schemas.microsoft.com/office/drawing/2014/main" id="{87320988-958B-8E05-7AD0-5DE0B2545F5E}"/>
              </a:ext>
            </a:extLst>
          </p:cNvPr>
          <p:cNvSpPr/>
          <p:nvPr/>
        </p:nvSpPr>
        <p:spPr>
          <a:xfrm>
            <a:off x="13473928" y="3186313"/>
            <a:ext cx="36938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52" name="AutoShape 3">
            <a:extLst>
              <a:ext uri="{FF2B5EF4-FFF2-40B4-BE49-F238E27FC236}">
                <a16:creationId xmlns:a16="http://schemas.microsoft.com/office/drawing/2014/main" id="{87320988-958B-8E05-7AD0-5DE0B2545F5E}"/>
              </a:ext>
            </a:extLst>
          </p:cNvPr>
          <p:cNvSpPr/>
          <p:nvPr/>
        </p:nvSpPr>
        <p:spPr>
          <a:xfrm>
            <a:off x="1092586" y="3158121"/>
            <a:ext cx="36938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53" name="AutoShape 3">
            <a:extLst>
              <a:ext uri="{FF2B5EF4-FFF2-40B4-BE49-F238E27FC236}">
                <a16:creationId xmlns:a16="http://schemas.microsoft.com/office/drawing/2014/main" id="{85B28D25-A9F6-8044-E1D7-D8A42A09E812}"/>
              </a:ext>
            </a:extLst>
          </p:cNvPr>
          <p:cNvSpPr/>
          <p:nvPr/>
        </p:nvSpPr>
        <p:spPr>
          <a:xfrm>
            <a:off x="1054486" y="6256162"/>
            <a:ext cx="37319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54" name="AutoShape 3">
            <a:extLst>
              <a:ext uri="{FF2B5EF4-FFF2-40B4-BE49-F238E27FC236}">
                <a16:creationId xmlns:a16="http://schemas.microsoft.com/office/drawing/2014/main" id="{87320988-958B-8E05-7AD0-5DE0B2545F5E}"/>
              </a:ext>
            </a:extLst>
          </p:cNvPr>
          <p:cNvSpPr/>
          <p:nvPr/>
        </p:nvSpPr>
        <p:spPr>
          <a:xfrm>
            <a:off x="5219700" y="3158121"/>
            <a:ext cx="36938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55" name="AutoShape 3">
            <a:extLst>
              <a:ext uri="{FF2B5EF4-FFF2-40B4-BE49-F238E27FC236}">
                <a16:creationId xmlns:a16="http://schemas.microsoft.com/office/drawing/2014/main" id="{85B28D25-A9F6-8044-E1D7-D8A42A09E812}"/>
              </a:ext>
            </a:extLst>
          </p:cNvPr>
          <p:cNvSpPr/>
          <p:nvPr/>
        </p:nvSpPr>
        <p:spPr>
          <a:xfrm>
            <a:off x="5219700" y="6146003"/>
            <a:ext cx="37319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56" name="AutoShape 3">
            <a:extLst>
              <a:ext uri="{FF2B5EF4-FFF2-40B4-BE49-F238E27FC236}">
                <a16:creationId xmlns:a16="http://schemas.microsoft.com/office/drawing/2014/main" id="{87320988-958B-8E05-7AD0-5DE0B2545F5E}"/>
              </a:ext>
            </a:extLst>
          </p:cNvPr>
          <p:cNvSpPr/>
          <p:nvPr/>
        </p:nvSpPr>
        <p:spPr>
          <a:xfrm>
            <a:off x="9346814" y="3158121"/>
            <a:ext cx="3693881" cy="2685592"/>
          </a:xfrm>
          <a:prstGeom prst="rect">
            <a:avLst/>
          </a:prstGeom>
          <a:solidFill>
            <a:srgbClr val="1D3880">
              <a:alpha val="49804"/>
            </a:srgbClr>
          </a:solidFill>
        </p:spPr>
      </p:sp>
      <p:sp>
        <p:nvSpPr>
          <p:cNvPr id="57" name="AutoShape 3">
            <a:extLst>
              <a:ext uri="{FF2B5EF4-FFF2-40B4-BE49-F238E27FC236}">
                <a16:creationId xmlns:a16="http://schemas.microsoft.com/office/drawing/2014/main" id="{85B28D25-A9F6-8044-E1D7-D8A42A09E812}"/>
              </a:ext>
            </a:extLst>
          </p:cNvPr>
          <p:cNvSpPr/>
          <p:nvPr/>
        </p:nvSpPr>
        <p:spPr>
          <a:xfrm>
            <a:off x="9270614" y="6075404"/>
            <a:ext cx="37319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58" name="AutoShape 3">
            <a:extLst>
              <a:ext uri="{FF2B5EF4-FFF2-40B4-BE49-F238E27FC236}">
                <a16:creationId xmlns:a16="http://schemas.microsoft.com/office/drawing/2014/main" id="{85B28D25-A9F6-8044-E1D7-D8A42A09E812}"/>
              </a:ext>
            </a:extLst>
          </p:cNvPr>
          <p:cNvSpPr/>
          <p:nvPr/>
        </p:nvSpPr>
        <p:spPr>
          <a:xfrm>
            <a:off x="13435828" y="6268862"/>
            <a:ext cx="3731981" cy="4127177"/>
          </a:xfrm>
          <a:prstGeom prst="rect">
            <a:avLst/>
          </a:prstGeom>
          <a:solidFill>
            <a:schemeClr val="bg1">
              <a:lumMod val="50000"/>
              <a:alpha val="49804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2104677" y="3973681"/>
            <a:ext cx="1779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</p:txBody>
      </p:sp>
      <p:sp>
        <p:nvSpPr>
          <p:cNvPr id="60" name="Прямоугольник 59"/>
          <p:cNvSpPr/>
          <p:nvPr/>
        </p:nvSpPr>
        <p:spPr>
          <a:xfrm>
            <a:off x="1380124" y="7048500"/>
            <a:ext cx="192854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HTML </a:t>
            </a:r>
          </a:p>
          <a:p>
            <a:r>
              <a:rPr lang="en-US" sz="3200" dirty="0"/>
              <a:t>CSS </a:t>
            </a:r>
          </a:p>
          <a:p>
            <a:r>
              <a:rPr lang="en-US" sz="3200" dirty="0"/>
              <a:t>JavaScript </a:t>
            </a:r>
          </a:p>
        </p:txBody>
      </p:sp>
      <p:sp>
        <p:nvSpPr>
          <p:cNvPr id="61" name="Прямоугольник 60"/>
          <p:cNvSpPr/>
          <p:nvPr/>
        </p:nvSpPr>
        <p:spPr>
          <a:xfrm>
            <a:off x="6400800" y="7554218"/>
            <a:ext cx="8643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PHP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6198453" y="3968419"/>
            <a:ext cx="17363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</p:txBody>
      </p:sp>
      <p:sp>
        <p:nvSpPr>
          <p:cNvPr id="77" name="Прямоугольник 76"/>
          <p:cNvSpPr/>
          <p:nvPr/>
        </p:nvSpPr>
        <p:spPr>
          <a:xfrm>
            <a:off x="10224973" y="7554217"/>
            <a:ext cx="15295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78" name="Прямоугольник 77"/>
          <p:cNvSpPr/>
          <p:nvPr/>
        </p:nvSpPr>
        <p:spPr>
          <a:xfrm>
            <a:off x="9968036" y="3966846"/>
            <a:ext cx="24753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</a:p>
        </p:txBody>
      </p:sp>
      <p:sp>
        <p:nvSpPr>
          <p:cNvPr id="79" name="Прямоугольник 78"/>
          <p:cNvSpPr/>
          <p:nvPr/>
        </p:nvSpPr>
        <p:spPr>
          <a:xfrm>
            <a:off x="13806959" y="3966845"/>
            <a:ext cx="30278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Прямоугольник 79"/>
          <p:cNvSpPr/>
          <p:nvPr/>
        </p:nvSpPr>
        <p:spPr>
          <a:xfrm>
            <a:off x="13793045" y="7048500"/>
            <a:ext cx="31148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XAMPP </a:t>
            </a:r>
          </a:p>
          <a:p>
            <a:r>
              <a:rPr lang="ru-RU" sz="3200" dirty="0"/>
              <a:t>Visual Studio Code  </a:t>
            </a:r>
          </a:p>
          <a:p>
            <a:r>
              <a:rPr lang="ru-RU" sz="3200" dirty="0" err="1"/>
              <a:t>phpMyAdmin</a:t>
            </a:r>
            <a:endParaRPr lang="ru-RU" sz="3200" dirty="0"/>
          </a:p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5870B5-F386-8DD6-29F3-8FB11D6C8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1386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3">
            <a:extLst>
              <a:ext uri="{FF2B5EF4-FFF2-40B4-BE49-F238E27FC236}">
                <a16:creationId xmlns:a16="http://schemas.microsoft.com/office/drawing/2014/main" id="{E210E953-9676-3425-D116-8070867ACFE7}"/>
              </a:ext>
            </a:extLst>
          </p:cNvPr>
          <p:cNvSpPr/>
          <p:nvPr/>
        </p:nvSpPr>
        <p:spPr>
          <a:xfrm>
            <a:off x="351494" y="4184553"/>
            <a:ext cx="2934113" cy="958946"/>
          </a:xfrm>
          <a:prstGeom prst="rect">
            <a:avLst/>
          </a:prstGeom>
          <a:solidFill>
            <a:srgbClr val="1D3880">
              <a:alpha val="49804"/>
            </a:srgbClr>
          </a:solidFill>
        </p:spPr>
        <p:txBody>
          <a:bodyPr/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тууралуу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9BB698AA-536F-CB56-97FA-D38D7D96F6BD}"/>
              </a:ext>
            </a:extLst>
          </p:cNvPr>
          <p:cNvSpPr/>
          <p:nvPr/>
        </p:nvSpPr>
        <p:spPr>
          <a:xfrm>
            <a:off x="351493" y="5143499"/>
            <a:ext cx="2934113" cy="4505457"/>
          </a:xfrm>
          <a:prstGeom prst="rect">
            <a:avLst/>
          </a:prstGeom>
          <a:solidFill>
            <a:srgbClr val="CCCCCC">
              <a:alpha val="80000"/>
            </a:srgbClr>
          </a:solidFill>
        </p:spPr>
        <p:txBody>
          <a:bodyPr/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Жүргүнчүлөр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расписаниени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болгону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билишет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AutoShape 29">
            <a:extLst>
              <a:ext uri="{FF2B5EF4-FFF2-40B4-BE49-F238E27FC236}">
                <a16:creationId xmlns:a16="http://schemas.microsoft.com/office/drawing/2014/main" id="{29CB9313-4D60-72E7-5E2F-3B45B3FB875A}"/>
              </a:ext>
            </a:extLst>
          </p:cNvPr>
          <p:cNvSpPr/>
          <p:nvPr/>
        </p:nvSpPr>
        <p:spPr>
          <a:xfrm>
            <a:off x="11398501" y="4170413"/>
            <a:ext cx="6860217" cy="680065"/>
          </a:xfrm>
          <a:prstGeom prst="rect">
            <a:avLst/>
          </a:prstGeom>
          <a:solidFill>
            <a:srgbClr val="D6D6D6"/>
          </a:solidFill>
        </p:spPr>
        <p:txBody>
          <a:bodyPr/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Чечимдин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максаты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8" name="AutoShape 9">
            <a:extLst>
              <a:ext uri="{FF2B5EF4-FFF2-40B4-BE49-F238E27FC236}">
                <a16:creationId xmlns:a16="http://schemas.microsoft.com/office/drawing/2014/main" id="{ED5ECADA-EEBD-E861-FCC9-2AA954B27AAF}"/>
              </a:ext>
            </a:extLst>
          </p:cNvPr>
          <p:cNvSpPr/>
          <p:nvPr/>
        </p:nvSpPr>
        <p:spPr>
          <a:xfrm>
            <a:off x="11398501" y="4864618"/>
            <a:ext cx="6889499" cy="4505458"/>
          </a:xfrm>
          <a:prstGeom prst="rect">
            <a:avLst/>
          </a:prstGeom>
          <a:solidFill>
            <a:srgbClr val="8E9CC0"/>
          </a:solidFill>
        </p:spPr>
        <p:txBody>
          <a:bodyPr/>
          <a:lstStyle/>
          <a:p>
            <a:pPr algn="ctr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9CA49DED-1AC0-1748-7D87-F2B9E32E5691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50" name="Freeform 39">
            <a:extLst>
              <a:ext uri="{FF2B5EF4-FFF2-40B4-BE49-F238E27FC236}">
                <a16:creationId xmlns:a16="http://schemas.microsoft.com/office/drawing/2014/main" id="{4ABEBF7B-7EB6-F019-4EFA-CB2F0BE21D99}"/>
              </a:ext>
            </a:extLst>
          </p:cNvPr>
          <p:cNvSpPr/>
          <p:nvPr/>
        </p:nvSpPr>
        <p:spPr>
          <a:xfrm>
            <a:off x="0" y="-41705"/>
            <a:ext cx="18288000" cy="3255003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51" name="TextBox 41">
            <a:extLst>
              <a:ext uri="{FF2B5EF4-FFF2-40B4-BE49-F238E27FC236}">
                <a16:creationId xmlns:a16="http://schemas.microsoft.com/office/drawing/2014/main" id="{5664A05E-A56E-82CD-BC4D-C1AD39B5B955}"/>
              </a:ext>
            </a:extLst>
          </p:cNvPr>
          <p:cNvSpPr txBox="1"/>
          <p:nvPr/>
        </p:nvSpPr>
        <p:spPr>
          <a:xfrm>
            <a:off x="1295400" y="416787"/>
            <a:ext cx="1514437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ru-RU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КОЛДОНМО МАСЕЛЕНИ КОЮУ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52" name="TextBox 42">
            <a:extLst>
              <a:ext uri="{FF2B5EF4-FFF2-40B4-BE49-F238E27FC236}">
                <a16:creationId xmlns:a16="http://schemas.microsoft.com/office/drawing/2014/main" id="{94D68DD6-C4B7-A4B5-C3E6-103FA8F067CE}"/>
              </a:ext>
            </a:extLst>
          </p:cNvPr>
          <p:cNvSpPr txBox="1"/>
          <p:nvPr/>
        </p:nvSpPr>
        <p:spPr>
          <a:xfrm>
            <a:off x="685800" y="1660437"/>
            <a:ext cx="17602200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Азыркы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учурда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Кыргызстандагы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автовокзалдарда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тууралуу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алуу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орун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үчүн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ыңгайлуу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жок.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Бул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төмөнкү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көйгөйлөргө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алып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келет</a:t>
            </a:r>
            <a:r>
              <a:rPr lang="ru-RU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CA48AC-ED05-946D-B0AA-437BD1A7AC47}"/>
              </a:ext>
            </a:extLst>
          </p:cNvPr>
          <p:cNvSpPr txBox="1"/>
          <p:nvPr/>
        </p:nvSpPr>
        <p:spPr>
          <a:xfrm>
            <a:off x="11659427" y="5143499"/>
            <a:ext cx="60346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тиркеме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төмөнкүлөрдү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камсыз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кылат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маршруттарды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көрүү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актуалдуу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расписаниени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алуу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жеңилдетүү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AutoShape 3">
            <a:extLst>
              <a:ext uri="{FF2B5EF4-FFF2-40B4-BE49-F238E27FC236}">
                <a16:creationId xmlns:a16="http://schemas.microsoft.com/office/drawing/2014/main" id="{913D46AD-7E36-4FCD-3713-53C5C94CB3FE}"/>
              </a:ext>
            </a:extLst>
          </p:cNvPr>
          <p:cNvSpPr/>
          <p:nvPr/>
        </p:nvSpPr>
        <p:spPr>
          <a:xfrm>
            <a:off x="4190173" y="4186489"/>
            <a:ext cx="2934113" cy="680065"/>
          </a:xfrm>
          <a:prstGeom prst="rect">
            <a:avLst/>
          </a:prstGeom>
          <a:solidFill>
            <a:srgbClr val="1D3880">
              <a:alpha val="49804"/>
            </a:srgb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Орун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B697540A-DB0C-9D3A-09B8-D5F780FA17D2}"/>
              </a:ext>
            </a:extLst>
          </p:cNvPr>
          <p:cNvSpPr/>
          <p:nvPr/>
        </p:nvSpPr>
        <p:spPr>
          <a:xfrm>
            <a:off x="4190173" y="4872141"/>
            <a:ext cx="2934113" cy="4505457"/>
          </a:xfrm>
          <a:prstGeom prst="rect">
            <a:avLst/>
          </a:prstGeom>
          <a:solidFill>
            <a:srgbClr val="CCCCCC">
              <a:alpha val="80000"/>
            </a:srgbClr>
          </a:solidFill>
        </p:spPr>
        <p:txBody>
          <a:bodyPr/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Билеттерди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алдын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мүмкүнчүлүгү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жок</a:t>
            </a:r>
          </a:p>
        </p:txBody>
      </p:sp>
      <p:sp>
        <p:nvSpPr>
          <p:cNvPr id="63" name="AutoShape 3">
            <a:extLst>
              <a:ext uri="{FF2B5EF4-FFF2-40B4-BE49-F238E27FC236}">
                <a16:creationId xmlns:a16="http://schemas.microsoft.com/office/drawing/2014/main" id="{425540D6-AF33-F57A-BC66-21A0BB03F829}"/>
              </a:ext>
            </a:extLst>
          </p:cNvPr>
          <p:cNvSpPr/>
          <p:nvPr/>
        </p:nvSpPr>
        <p:spPr>
          <a:xfrm>
            <a:off x="7924800" y="4198681"/>
            <a:ext cx="2934113" cy="680065"/>
          </a:xfrm>
          <a:prstGeom prst="rect">
            <a:avLst/>
          </a:prstGeom>
          <a:solidFill>
            <a:srgbClr val="1D3880">
              <a:alpha val="49804"/>
            </a:srgbClr>
          </a:solidFill>
        </p:spPr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Бош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4" name="AutoShape 6">
            <a:extLst>
              <a:ext uri="{FF2B5EF4-FFF2-40B4-BE49-F238E27FC236}">
                <a16:creationId xmlns:a16="http://schemas.microsoft.com/office/drawing/2014/main" id="{3A240128-5259-4B68-103D-24F63EC66383}"/>
              </a:ext>
            </a:extLst>
          </p:cNvPr>
          <p:cNvSpPr/>
          <p:nvPr/>
        </p:nvSpPr>
        <p:spPr>
          <a:xfrm>
            <a:off x="7924800" y="4884333"/>
            <a:ext cx="2934113" cy="4505457"/>
          </a:xfrm>
          <a:prstGeom prst="rect">
            <a:avLst/>
          </a:prstGeom>
          <a:solidFill>
            <a:srgbClr val="CCCCCC">
              <a:alpha val="80000"/>
            </a:srgbClr>
          </a:solidFill>
        </p:spPr>
        <p:txBody>
          <a:bodyPr/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учурда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жогу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боюнча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түшүнбөстүктөр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жаралат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96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8F75428B-2410-6E69-C46C-56D3033B64C4}"/>
              </a:ext>
            </a:extLst>
          </p:cNvPr>
          <p:cNvSpPr/>
          <p:nvPr/>
        </p:nvSpPr>
        <p:spPr>
          <a:xfrm>
            <a:off x="0" y="4198681"/>
            <a:ext cx="4343400" cy="667873"/>
          </a:xfrm>
          <a:prstGeom prst="rect">
            <a:avLst/>
          </a:prstGeom>
          <a:solidFill>
            <a:srgbClr val="1D3880">
              <a:alpha val="49804"/>
            </a:srgbClr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ru-RU" sz="2400" dirty="0" err="1"/>
              <a:t>Негизги</a:t>
            </a:r>
            <a:r>
              <a:rPr lang="ru-RU" sz="2400" dirty="0"/>
              <a:t> </a:t>
            </a:r>
            <a:r>
              <a:rPr lang="ru-RU" sz="2400" dirty="0" err="1"/>
              <a:t>маалыматтар</a:t>
            </a:r>
            <a:r>
              <a:rPr lang="ru-RU" sz="2400" dirty="0"/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8148D7C1-27D7-7233-F208-EF31349E15D4}"/>
              </a:ext>
            </a:extLst>
          </p:cNvPr>
          <p:cNvSpPr/>
          <p:nvPr/>
        </p:nvSpPr>
        <p:spPr>
          <a:xfrm>
            <a:off x="0" y="4866553"/>
            <a:ext cx="4343400" cy="4523237"/>
          </a:xfrm>
          <a:prstGeom prst="rect">
            <a:avLst/>
          </a:prstGeom>
          <a:solidFill>
            <a:srgbClr val="CCCCCC">
              <a:alpha val="80000"/>
            </a:srgbClr>
          </a:solidFill>
        </p:spPr>
        <p:txBody>
          <a:bodyPr/>
          <a:lstStyle/>
          <a:p>
            <a:pPr>
              <a:lnSpc>
                <a:spcPct val="150000"/>
              </a:lnSpc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38">
            <a:extLst>
              <a:ext uri="{FF2B5EF4-FFF2-40B4-BE49-F238E27FC236}">
                <a16:creationId xmlns:a16="http://schemas.microsoft.com/office/drawing/2014/main" id="{E539830A-86EC-65E7-E5F3-B50315D2DCF9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A0B2E41B-F70D-8E3B-B0B3-15B50A5F304D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FAEE6589-9D45-BEFC-4FAE-BD3AD0CD30EE}"/>
              </a:ext>
            </a:extLst>
          </p:cNvPr>
          <p:cNvSpPr txBox="1"/>
          <p:nvPr/>
        </p:nvSpPr>
        <p:spPr>
          <a:xfrm>
            <a:off x="1295400" y="446958"/>
            <a:ext cx="15144375" cy="900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ru-RU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БАШТАПКЫ МААЛЫМАТТАР ЖАНА ЫКМА</a:t>
            </a:r>
            <a:endParaRPr lang="en-US" sz="5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9" name="TextBox 42">
            <a:extLst>
              <a:ext uri="{FF2B5EF4-FFF2-40B4-BE49-F238E27FC236}">
                <a16:creationId xmlns:a16="http://schemas.microsoft.com/office/drawing/2014/main" id="{27987318-5E69-7C98-CA08-6B141205DE23}"/>
              </a:ext>
            </a:extLst>
          </p:cNvPr>
          <p:cNvSpPr txBox="1"/>
          <p:nvPr/>
        </p:nvSpPr>
        <p:spPr>
          <a:xfrm>
            <a:off x="2147118" y="1394825"/>
            <a:ext cx="1592580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учурунда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автовокзалдардын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ишине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мүнөздүү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реалдуу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маалыматтар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колдонулду</a:t>
            </a:r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br>
              <a:rPr lang="ru-RU" sz="4800" dirty="0"/>
            </a:br>
            <a:endParaRPr lang="ru-RU" sz="4800" dirty="0"/>
          </a:p>
          <a:p>
            <a:endParaRPr lang="ru-RU" sz="4800" b="1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DA538566-F995-C2E3-BFFC-620C7AE4DD96}"/>
              </a:ext>
            </a:extLst>
          </p:cNvPr>
          <p:cNvSpPr/>
          <p:nvPr/>
        </p:nvSpPr>
        <p:spPr>
          <a:xfrm>
            <a:off x="6629399" y="4186489"/>
            <a:ext cx="4038601" cy="680065"/>
          </a:xfrm>
          <a:prstGeom prst="rect">
            <a:avLst/>
          </a:prstGeom>
          <a:solidFill>
            <a:srgbClr val="1D3880">
              <a:alpha val="49804"/>
            </a:srgb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400" dirty="0" err="1"/>
              <a:t>Брондоо</a:t>
            </a:r>
            <a:r>
              <a:rPr lang="ru-RU" sz="2400" dirty="0"/>
              <a:t> </a:t>
            </a:r>
            <a:r>
              <a:rPr lang="ru-RU" sz="2400" dirty="0" err="1"/>
              <a:t>үчүн</a:t>
            </a:r>
            <a:r>
              <a:rPr lang="ru-RU" sz="2400" dirty="0"/>
              <a:t> </a:t>
            </a:r>
            <a:r>
              <a:rPr lang="ru-RU" sz="2400" dirty="0" err="1"/>
              <a:t>маалыматтар</a:t>
            </a:r>
            <a:r>
              <a:rPr lang="ru-RU" sz="2400" dirty="0"/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BE7A922E-C3A8-5C18-2D2D-ABDC1A718ADB}"/>
              </a:ext>
            </a:extLst>
          </p:cNvPr>
          <p:cNvSpPr/>
          <p:nvPr/>
        </p:nvSpPr>
        <p:spPr>
          <a:xfrm>
            <a:off x="12815118" y="4171422"/>
            <a:ext cx="5257800" cy="680065"/>
          </a:xfrm>
          <a:prstGeom prst="rect">
            <a:avLst/>
          </a:prstGeom>
          <a:solidFill>
            <a:srgbClr val="1D3880">
              <a:alpha val="49804"/>
            </a:srgb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Ишке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ашыруу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ыкмасы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2F11DFD2-BB7C-16BF-F8B9-48A1A2E6E081}"/>
              </a:ext>
            </a:extLst>
          </p:cNvPr>
          <p:cNvSpPr/>
          <p:nvPr/>
        </p:nvSpPr>
        <p:spPr>
          <a:xfrm>
            <a:off x="12906645" y="4884333"/>
            <a:ext cx="5257800" cy="4505457"/>
          </a:xfrm>
          <a:prstGeom prst="rect">
            <a:avLst/>
          </a:prstGeom>
          <a:solidFill>
            <a:srgbClr val="CCCCCC">
              <a:alpha val="80000"/>
            </a:srgbClr>
          </a:solidFill>
        </p:spPr>
        <p:txBody>
          <a:bodyPr/>
          <a:lstStyle/>
          <a:p>
            <a:r>
              <a:rPr lang="ru-RU" sz="2400" dirty="0"/>
              <a:t>Веб-</a:t>
            </a:r>
            <a:r>
              <a:rPr lang="ru-RU" sz="2400" dirty="0" err="1"/>
              <a:t>технологияларды</a:t>
            </a:r>
            <a:r>
              <a:rPr lang="ru-RU" sz="2400" dirty="0"/>
              <a:t> </a:t>
            </a:r>
            <a:r>
              <a:rPr lang="ru-RU" sz="2400" dirty="0" err="1"/>
              <a:t>колдонуу</a:t>
            </a:r>
            <a:r>
              <a:rPr lang="ru-RU" sz="2400" dirty="0"/>
              <a:t> (</a:t>
            </a:r>
            <a:r>
              <a:rPr lang="en-US" sz="2400" dirty="0"/>
              <a:t>PHP + MySQL)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ru-RU" sz="2400" dirty="0" err="1"/>
              <a:t>Маалыматтарды</a:t>
            </a:r>
            <a:r>
              <a:rPr lang="ru-RU" sz="2400" dirty="0"/>
              <a:t> </a:t>
            </a:r>
            <a:r>
              <a:rPr lang="ru-RU" sz="2400" dirty="0" err="1"/>
              <a:t>базага</a:t>
            </a:r>
            <a:r>
              <a:rPr lang="ru-RU" sz="2400" dirty="0"/>
              <a:t> </a:t>
            </a:r>
            <a:r>
              <a:rPr lang="ru-RU" sz="2400" dirty="0" err="1"/>
              <a:t>сактоо</a:t>
            </a:r>
            <a:br>
              <a:rPr lang="ru-RU" sz="2400" dirty="0"/>
            </a:br>
            <a:r>
              <a:rPr lang="ru-RU" sz="2400" dirty="0"/>
              <a:t>• Сервер </a:t>
            </a:r>
            <a:r>
              <a:rPr lang="ru-RU" sz="2400" dirty="0" err="1"/>
              <a:t>аркылуу</a:t>
            </a:r>
            <a:r>
              <a:rPr lang="ru-RU" sz="2400" dirty="0"/>
              <a:t> </a:t>
            </a:r>
            <a:r>
              <a:rPr lang="ru-RU" sz="2400" dirty="0" err="1"/>
              <a:t>суроо-талаптарды</a:t>
            </a:r>
            <a:r>
              <a:rPr lang="ru-RU" sz="2400" dirty="0"/>
              <a:t> </a:t>
            </a:r>
            <a:r>
              <a:rPr lang="ru-RU" sz="2400" dirty="0" err="1"/>
              <a:t>иштетүү</a:t>
            </a:r>
            <a:br>
              <a:rPr lang="ru-RU" sz="2400" dirty="0"/>
            </a:br>
            <a:r>
              <a:rPr lang="ru-RU" sz="2400" dirty="0"/>
              <a:t>• Бош </a:t>
            </a:r>
            <a:r>
              <a:rPr lang="ru-RU" sz="2400" dirty="0" err="1"/>
              <a:t>орундардын</a:t>
            </a:r>
            <a:r>
              <a:rPr lang="ru-RU" sz="2400" dirty="0"/>
              <a:t> </a:t>
            </a:r>
            <a:r>
              <a:rPr lang="ru-RU" sz="2400" dirty="0" err="1"/>
              <a:t>автоматтык</a:t>
            </a:r>
            <a:r>
              <a:rPr lang="ru-RU" sz="2400" dirty="0"/>
              <a:t> </a:t>
            </a:r>
            <a:r>
              <a:rPr lang="ru-RU" sz="2400" dirty="0" err="1"/>
              <a:t>жаңыртылышы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37">
            <a:extLst>
              <a:ext uri="{FF2B5EF4-FFF2-40B4-BE49-F238E27FC236}">
                <a16:creationId xmlns:a16="http://schemas.microsoft.com/office/drawing/2014/main" id="{395A88A3-95C4-A113-F643-52BDCD33E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60" y="5233442"/>
            <a:ext cx="383867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Маршруттар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(Кемин, Токмок, Кант,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Чоң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-Кемин)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Рейстердин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жөнөө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убактысы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Транспорттогу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саны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Жол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кире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баасы</a:t>
            </a: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EDC269AB-1092-DA64-F44A-B88011DC67B1}"/>
              </a:ext>
            </a:extLst>
          </p:cNvPr>
          <p:cNvSpPr/>
          <p:nvPr/>
        </p:nvSpPr>
        <p:spPr>
          <a:xfrm>
            <a:off x="6749519" y="4884333"/>
            <a:ext cx="3810000" cy="4523235"/>
          </a:xfrm>
          <a:prstGeom prst="rect">
            <a:avLst/>
          </a:prstGeom>
          <a:solidFill>
            <a:srgbClr val="CCCCCC">
              <a:alpha val="80000"/>
            </a:srgbClr>
          </a:solidFill>
        </p:spPr>
        <p:txBody>
          <a:bodyPr/>
          <a:lstStyle/>
          <a:p>
            <a:pPr>
              <a:lnSpc>
                <a:spcPct val="150000"/>
              </a:lnSpc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E91BE-D9BB-3C94-51AB-719A1D7CEC89}"/>
              </a:ext>
            </a:extLst>
          </p:cNvPr>
          <p:cNvSpPr txBox="1"/>
          <p:nvPr/>
        </p:nvSpPr>
        <p:spPr>
          <a:xfrm>
            <a:off x="5987519" y="5717280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buFont typeface="Arial" panose="020B0604020202020204" pitchFamily="34" charset="0"/>
              <a:buChar char="•"/>
            </a:pPr>
            <a:r>
              <a:rPr lang="ru-R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Жүргүнчүнүн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аты-жөнү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Телефон </a:t>
            </a:r>
            <a:r>
              <a:rPr lang="ru-R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номери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Орундардын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саны</a:t>
            </a:r>
            <a:b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Жалпы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сумма</a:t>
            </a:r>
          </a:p>
        </p:txBody>
      </p:sp>
    </p:spTree>
    <p:extLst>
      <p:ext uri="{BB962C8B-B14F-4D97-AF65-F5344CB8AC3E}">
        <p14:creationId xmlns:p14="http://schemas.microsoft.com/office/powerpoint/2010/main" val="38182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972DD06-4274-791D-ACE2-4817759BA197}"/>
              </a:ext>
            </a:extLst>
          </p:cNvPr>
          <p:cNvSpPr/>
          <p:nvPr/>
        </p:nvSpPr>
        <p:spPr>
          <a:xfrm>
            <a:off x="0" y="-353898"/>
            <a:ext cx="6925541" cy="10640898"/>
          </a:xfrm>
          <a:prstGeom prst="rect">
            <a:avLst/>
          </a:prstGeom>
          <a:solidFill>
            <a:srgbClr val="1D3880"/>
          </a:solidFill>
        </p:spPr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3396BA72-05CF-17A4-AD09-772AC3CE6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65536" y="7537517"/>
            <a:ext cx="1279162" cy="120269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8850D3D7-3C21-83C7-45BA-71EDE08C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218890" y="7499756"/>
            <a:ext cx="1309723" cy="1241526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40511793-4C0A-3280-DD5E-1BE1EC93C3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899151" y="2787244"/>
            <a:ext cx="1412503" cy="1241526"/>
          </a:xfrm>
          <a:prstGeom prst="rect">
            <a:avLst/>
          </a:prstGeom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81FC1008-FB2F-B4DB-0800-38E04B5FC8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562937" y="7630919"/>
            <a:ext cx="1177653" cy="1179642"/>
          </a:xfrm>
          <a:prstGeom prst="rect">
            <a:avLst/>
          </a:prstGeom>
        </p:spPr>
      </p:pic>
      <p:pic>
        <p:nvPicPr>
          <p:cNvPr id="8" name="Picture 15">
            <a:extLst>
              <a:ext uri="{FF2B5EF4-FFF2-40B4-BE49-F238E27FC236}">
                <a16:creationId xmlns:a16="http://schemas.microsoft.com/office/drawing/2014/main" id="{ED815AFE-4EBD-5307-5F61-EF568783A7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133376" y="5245177"/>
            <a:ext cx="1315547" cy="1246879"/>
          </a:xfrm>
          <a:prstGeom prst="rect">
            <a:avLst/>
          </a:prstGeom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6207B8BD-08BF-F024-17DB-DCC701393A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3069644" y="7418405"/>
            <a:ext cx="1392233" cy="1344729"/>
          </a:xfrm>
          <a:prstGeom prst="rect">
            <a:avLst/>
          </a:prstGeom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818A743A-40A7-C6C3-5517-5671CDB6ADD9}"/>
              </a:ext>
            </a:extLst>
          </p:cNvPr>
          <p:cNvSpPr txBox="1"/>
          <p:nvPr/>
        </p:nvSpPr>
        <p:spPr>
          <a:xfrm>
            <a:off x="277646" y="289322"/>
            <a:ext cx="6199354" cy="2170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00"/>
              </a:lnSpc>
            </a:pPr>
            <a:r>
              <a:rPr lang="ru-RU" sz="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ЖЫЙЫНТЫК ЖАНА СУНУШТАР</a:t>
            </a:r>
            <a:endParaRPr lang="en-US" sz="5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0BAA00AD-B035-5B43-B4CD-8EF3062F9A6B}"/>
              </a:ext>
            </a:extLst>
          </p:cNvPr>
          <p:cNvSpPr txBox="1"/>
          <p:nvPr/>
        </p:nvSpPr>
        <p:spPr>
          <a:xfrm>
            <a:off x="370825" y="2966091"/>
            <a:ext cx="6461537" cy="8036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Жыйынтык</a:t>
            </a: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Иштин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жүрүшүндө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«Автовокзал» веб-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тиркемеси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иштелип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чыкты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Бул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Кыргызстанда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ыңгайлуу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кызматтардын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жетишсиздигин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чечүүгө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багытталган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төмөнкүлөрдү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камсыз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кылат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рейстер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тууралуу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маалыматты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каалаган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убакта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алуу</a:t>
            </a:r>
            <a:b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орундарды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брондоо</a:t>
            </a:r>
            <a:b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бош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орундар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боюнча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түшүнбөстүктөрдү</a:t>
            </a:r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азайтуу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200" b="1" dirty="0"/>
          </a:p>
          <a:p>
            <a:pPr>
              <a:lnSpc>
                <a:spcPct val="150000"/>
              </a:lnSpc>
            </a:pP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0FEB006-CB75-FB91-C0F5-9BE0E91E4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750" y="1977622"/>
            <a:ext cx="809992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Сунуштар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Системаны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реалдуу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автовокзалдарга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киргизүү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Онлайн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төлөм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кошуу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QR,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карта)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Мобилдик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версиясын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иштеп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чыгуу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Маршруттардын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санын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көбөйтүү</a:t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Колдонуучулар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үчүн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интерфейсти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жакшыртуу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sz="3600" dirty="0"/>
            </a:b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537123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FC2653D-A255-7F39-9409-9474FEB5E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000500" y="-4000500"/>
            <a:ext cx="10286999" cy="1828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322AAA5E-5AAA-7CAB-BDD5-591ABC20272B}"/>
              </a:ext>
            </a:extLst>
          </p:cNvPr>
          <p:cNvSpPr/>
          <p:nvPr/>
        </p:nvSpPr>
        <p:spPr>
          <a:xfrm>
            <a:off x="4419599" y="419100"/>
            <a:ext cx="9448800" cy="9448800"/>
          </a:xfrm>
          <a:prstGeom prst="ellipse">
            <a:avLst/>
          </a:prstGeom>
          <a:solidFill>
            <a:srgbClr val="1D38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444999" y="4381500"/>
            <a:ext cx="9042401" cy="2274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9000"/>
              </a:lnSpc>
            </a:pPr>
            <a:r>
              <a:rPr lang="ru-RU" sz="5400" b="1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КӨҢҮЛ КӨРГӨНҮҢҮЗ ҮЧҮН РАХМАТ!</a:t>
            </a:r>
            <a:endParaRPr lang="en-US" sz="5400" b="1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135112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664</Words>
  <Application>Microsoft Office PowerPoint</Application>
  <PresentationFormat>Произвольный</PresentationFormat>
  <Paragraphs>94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Times New Roman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Синий и Черный Простая и Профессиональная Продажи Предложение Презентация о продажах</dc:title>
  <dc:creator>Admin1</dc:creator>
  <cp:lastModifiedBy>Пользователь</cp:lastModifiedBy>
  <cp:revision>23</cp:revision>
  <dcterms:created xsi:type="dcterms:W3CDTF">2006-08-16T00:00:00Z</dcterms:created>
  <dcterms:modified xsi:type="dcterms:W3CDTF">2026-04-22T04:19:52Z</dcterms:modified>
  <dc:identifier>DAGplNNLnQ4</dc:identifier>
</cp:coreProperties>
</file>