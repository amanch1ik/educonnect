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85" r:id="rId3"/>
    <p:sldId id="284" r:id="rId4"/>
    <p:sldId id="275" r:id="rId5"/>
    <p:sldId id="271" r:id="rId6"/>
    <p:sldId id="273" r:id="rId7"/>
    <p:sldId id="286" r:id="rId8"/>
    <p:sldId id="278" r:id="rId9"/>
    <p:sldId id="279" r:id="rId10"/>
    <p:sldId id="280" r:id="rId11"/>
    <p:sldId id="287" r:id="rId12"/>
    <p:sldId id="288" r:id="rId13"/>
    <p:sldId id="289" r:id="rId14"/>
    <p:sldId id="281" r:id="rId15"/>
    <p:sldId id="29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880"/>
    <a:srgbClr val="8E9CC0"/>
    <a:srgbClr val="EBEBEB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 autoAdjust="0"/>
    <p:restoredTop sz="94624" autoAdjust="0"/>
  </p:normalViewPr>
  <p:slideViewPr>
    <p:cSldViewPr>
      <p:cViewPr varScale="1">
        <p:scale>
          <a:sx n="53" d="100"/>
          <a:sy n="53" d="100"/>
        </p:scale>
        <p:origin x="23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41581-BB99-4EDA-9B6D-2049E05F75E3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A6389-2BB1-4E4E-B33C-98614912EF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602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A6389-2BB1-4E4E-B33C-98614912EF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59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A6389-2BB1-4E4E-B33C-98614912EF7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79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4482-8B67-4A0E-C62A-6F3A4E600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1AB9CE-1472-B430-D8A9-903F880B2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A7E66C-281F-E331-25ED-1BCDCB494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2149C2-3BBC-5001-E7C4-ADE4601A4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BA6389-2BB1-4E4E-B33C-98614912EF7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32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472225">
            <a:off x="12423223" y="559715"/>
            <a:ext cx="7821318" cy="14747006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746BCA7-52C7-87B5-9FD0-84060C7363BC}"/>
              </a:ext>
            </a:extLst>
          </p:cNvPr>
          <p:cNvSpPr/>
          <p:nvPr/>
        </p:nvSpPr>
        <p:spPr>
          <a:xfrm>
            <a:off x="3048696" y="4289885"/>
            <a:ext cx="10395074" cy="16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 :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ky-KG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ВЕБ-ПЛАТФОРМЫ ДЛЯ ОНЛАЙН-БРОНИРОВАНИЯ ТУРИСТИЧЕСКИХ УСЛУГ</a:t>
            </a: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endParaRPr lang="ru-RU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BAA34F26-6DFB-E076-16DC-F7D15DC3CDA2}"/>
              </a:ext>
            </a:extLst>
          </p:cNvPr>
          <p:cNvSpPr/>
          <p:nvPr/>
        </p:nvSpPr>
        <p:spPr>
          <a:xfrm>
            <a:off x="10896600" y="8267700"/>
            <a:ext cx="7162800" cy="1100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y-KG" sz="24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студентка группы </a:t>
            </a:r>
          </a:p>
          <a:p>
            <a:r>
              <a:rPr lang="ky-KG" sz="24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БИ(б)-1-22 </a:t>
            </a:r>
            <a:r>
              <a:rPr lang="ky-KG" sz="2400" b="1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Абдылдаева Э.М.</a:t>
            </a:r>
            <a:r>
              <a:rPr lang="ky-K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ky-K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y-KG" sz="24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ст. преподаватель </a:t>
            </a:r>
          </a:p>
          <a:p>
            <a:r>
              <a:rPr lang="ky-KG" sz="2400" b="1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Базаркул кызы Н.</a:t>
            </a:r>
            <a:endPara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5B331E-2422-BE24-60AC-CF6B33BE1DF8}"/>
              </a:ext>
            </a:extLst>
          </p:cNvPr>
          <p:cNvSpPr txBox="1"/>
          <p:nvPr/>
        </p:nvSpPr>
        <p:spPr>
          <a:xfrm>
            <a:off x="2819400" y="1007134"/>
            <a:ext cx="144017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</a:t>
            </a:r>
            <a:r>
              <a:rPr lang="ky-KG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ОБРАЗОВАНИЯ, НАУКИ И ИННОВАЦИЙ 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Кыргызский государственный технический университет им.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И.Раззакова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«Прикладная математика и информатика»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2CEC6CC-A7CA-FBDC-431B-5058BB336B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98" y="2171700"/>
            <a:ext cx="2426172" cy="242617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1F13E7A-0A8E-A60C-FDF6-C71D0632A7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7286" y="5728692"/>
            <a:ext cx="4833539" cy="32223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-169404"/>
            <a:ext cx="3200400" cy="10640898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3" name="TextBox 23"/>
          <p:cNvSpPr txBox="1"/>
          <p:nvPr/>
        </p:nvSpPr>
        <p:spPr>
          <a:xfrm rot="16200000">
            <a:off x="-3697506" y="3583206"/>
            <a:ext cx="1045640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ТЕМЫ: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4343400" y="1216232"/>
            <a:ext cx="12725400" cy="83171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y-KG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определяется текущим состоянием туристического рынка Кыргызской Республики. Ежегодно граждане совершают около </a:t>
            </a:r>
            <a:r>
              <a:rPr lang="ky-KG" sz="2800" b="0" i="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1,5–2 миллионов </a:t>
            </a: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выездных поездок, однако уровень цифровизации отрасли остаётся крайне низким.</a:t>
            </a:r>
          </a:p>
          <a:p>
            <a:pPr>
              <a:lnSpc>
                <a:spcPct val="150000"/>
              </a:lnSpc>
            </a:pPr>
            <a:endParaRPr lang="ky-KG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y-KG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то время как в мире доля онлайн-бронирований превышает </a:t>
            </a:r>
            <a:r>
              <a:rPr lang="ky-KG" sz="2800" b="0" i="0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65%</a:t>
            </a:r>
            <a:r>
              <a:rPr lang="ky-KG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в Кыргызстане этот показатель не достигает даже </a:t>
            </a:r>
            <a:r>
              <a:rPr lang="ky-KG" sz="2800" b="0" i="0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r>
              <a:rPr lang="ky-KG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Подавляющее большинство бронирований осуществляется офлайн либо через неформальные каналы, такие как </a:t>
            </a: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WhatsApp </a:t>
            </a:r>
            <a:r>
              <a:rPr lang="ky-KG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Telegram.</a:t>
            </a:r>
            <a:endParaRPr lang="ky-KG" sz="2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</a:pPr>
            <a:endParaRPr lang="ky-KG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900"/>
              </a:spcAft>
            </a:pPr>
            <a:r>
              <a:rPr lang="ky-K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Следствие: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y-K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Непрозрачность цен, отсутствие мгновенного подтверждения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y-K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мошенничества в неформальных каналах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ky-KG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документальной защиты для туриста</a:t>
            </a:r>
          </a:p>
          <a:p>
            <a:pPr>
              <a:lnSpc>
                <a:spcPct val="150000"/>
              </a:lnSpc>
            </a:pPr>
            <a:endParaRPr lang="ky-KG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2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-169404"/>
            <a:ext cx="3200400" cy="10640898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3" name="TextBox 23"/>
          <p:cNvSpPr txBox="1"/>
          <p:nvPr/>
        </p:nvSpPr>
        <p:spPr>
          <a:xfrm rot="16200000">
            <a:off x="-697176" y="3146393"/>
            <a:ext cx="56007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:</a:t>
            </a:r>
            <a:br>
              <a:rPr lang="ru-RU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3496233" y="405315"/>
            <a:ext cx="13115367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  <a:r>
              <a:rPr lang="ky-K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ky-KG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y-KG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разработать полнофункциональную веб-платформу для онлайн-бронирования туристических услуг, ориентированную на рынок Кыргызстана, с поддержкой ролевого доступа, адаптивным интерфейсом и с возможностью интеграции местных платёжных шлюзов.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B3049B-1210-C87D-B845-55B493DD9F4B}"/>
              </a:ext>
            </a:extLst>
          </p:cNvPr>
          <p:cNvSpPr txBox="1"/>
          <p:nvPr/>
        </p:nvSpPr>
        <p:spPr>
          <a:xfrm>
            <a:off x="3496233" y="4229100"/>
            <a:ext cx="11344708" cy="592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РАБОТЫ:</a:t>
            </a:r>
          </a:p>
          <a:p>
            <a:pPr marL="0" lvl="1">
              <a:lnSpc>
                <a:spcPct val="150000"/>
              </a:lnSpc>
              <a:spcAft>
                <a:spcPts val="200"/>
              </a:spcAft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цели были поставлены следующие задачи: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и изучить платформы-аналоги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y-KG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 требования к системе с точки зрения всех групп пользователей (провести анализ прецедентов)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y-KG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архитектуру, схему БД(Базы Данных) и 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(программируемый интерфейс приложения)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модули: </a:t>
            </a:r>
            <a:r>
              <a:rPr lang="ky-KG" sz="28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туров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бронирование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оплата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</a:t>
            </a:r>
            <a:r>
              <a:rPr lang="en-US" sz="28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y-KG" sz="2800" b="0" i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административную панель и кабинет туроператора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y-KG" sz="2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>
              <a:lnSpc>
                <a:spcPct val="150000"/>
              </a:lnSpc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BC73D-0A6F-0B83-3B80-6621CA1D3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554" y="4599749"/>
            <a:ext cx="1422091" cy="1422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DC9FCD-33F6-F2AE-98C9-803C40ED0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999" y="6184520"/>
            <a:ext cx="1473200" cy="147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2CAC62-0F90-4959-D8B3-6B0D3AE74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0742" y="7892532"/>
            <a:ext cx="1261715" cy="126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1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178550" cy="10287000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3" name="TextBox 23"/>
          <p:cNvSpPr txBox="1"/>
          <p:nvPr/>
        </p:nvSpPr>
        <p:spPr>
          <a:xfrm>
            <a:off x="288925" y="1254439"/>
            <a:ext cx="5600700" cy="650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04800" y="3156903"/>
            <a:ext cx="5756971" cy="5082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y-KG" sz="32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Рынок туристических услуг Кыргызской Республики и процессы взаимодействия между туристами, туроператорами и поставщиками услуг в сегменте выездного туризма.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286703" y="1208273"/>
            <a:ext cx="5909336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6B397A1-1DA6-8FA7-EB92-ED78B94E147F}"/>
              </a:ext>
            </a:extLst>
          </p:cNvPr>
          <p:cNvSpPr/>
          <p:nvPr/>
        </p:nvSpPr>
        <p:spPr>
          <a:xfrm>
            <a:off x="12233420" y="0"/>
            <a:ext cx="6080747" cy="10287000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5" name="Прямоугольник 5">
            <a:extLst>
              <a:ext uri="{FF2B5EF4-FFF2-40B4-BE49-F238E27FC236}">
                <a16:creationId xmlns:a16="http://schemas.microsoft.com/office/drawing/2014/main" id="{E9913CF6-106D-FE7A-C222-088E4D384089}"/>
              </a:ext>
            </a:extLst>
          </p:cNvPr>
          <p:cNvSpPr/>
          <p:nvPr/>
        </p:nvSpPr>
        <p:spPr>
          <a:xfrm>
            <a:off x="12600280" y="1208273"/>
            <a:ext cx="5361404" cy="7425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ИССЛЕДОВАНИЯ</a:t>
            </a: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EDEB620E-C6A1-F137-0FA8-993A6BE50464}"/>
              </a:ext>
            </a:extLst>
          </p:cNvPr>
          <p:cNvSpPr txBox="1"/>
          <p:nvPr/>
        </p:nvSpPr>
        <p:spPr>
          <a:xfrm>
            <a:off x="6439068" y="3156903"/>
            <a:ext cx="5756971" cy="55322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lang="ky-KG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Веб-платформа как инструмент автоматизации и цифровизации процессов бронирования туристических услуг с полным циклом оплаты и документооборота</a:t>
            </a:r>
            <a:r>
              <a:rPr lang="ky-KG" sz="3200" b="0" i="0" dirty="0">
                <a:solidFill>
                  <a:srgbClr val="E2E1DA"/>
                </a:solidFill>
                <a:effectLst/>
                <a:latin typeface="Anthropic Sans"/>
              </a:rPr>
              <a:t>.</a:t>
            </a:r>
          </a:p>
          <a:p>
            <a:r>
              <a:rPr lang="ky-KG" sz="3200" dirty="0"/>
              <a:t/>
            </a:r>
            <a:br>
              <a:rPr lang="ky-KG" sz="3200" dirty="0"/>
            </a:b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24">
            <a:extLst>
              <a:ext uri="{FF2B5EF4-FFF2-40B4-BE49-F238E27FC236}">
                <a16:creationId xmlns:a16="http://schemas.microsoft.com/office/drawing/2014/main" id="{455870C6-0D1E-9BBD-CBD4-A9B71BAFB51F}"/>
              </a:ext>
            </a:extLst>
          </p:cNvPr>
          <p:cNvSpPr txBox="1"/>
          <p:nvPr/>
        </p:nvSpPr>
        <p:spPr>
          <a:xfrm>
            <a:off x="12456557" y="3243168"/>
            <a:ext cx="6017489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y-KG" sz="3200" dirty="0">
                <a:solidFill>
                  <a:srgbClr val="E2E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Разбор</a:t>
            </a:r>
            <a:r>
              <a:rPr lang="ky-KG" sz="32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аналогов</a:t>
            </a:r>
          </a:p>
          <a:p>
            <a:pPr>
              <a:lnSpc>
                <a:spcPct val="150000"/>
              </a:lnSpc>
            </a:pPr>
            <a:r>
              <a:rPr lang="ky-KG" sz="3200" dirty="0">
                <a:solidFill>
                  <a:srgbClr val="E2E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ky-KG" sz="32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роектирование </a:t>
            </a:r>
          </a:p>
          <a:p>
            <a:pPr>
              <a:lnSpc>
                <a:spcPct val="150000"/>
              </a:lnSpc>
            </a:pPr>
            <a:r>
              <a:rPr lang="en-GB" sz="32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Use-case</a:t>
            </a:r>
            <a:r>
              <a:rPr lang="ky-KG" sz="32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моделирование</a:t>
            </a:r>
          </a:p>
          <a:p>
            <a:pPr>
              <a:lnSpc>
                <a:spcPct val="150000"/>
              </a:lnSpc>
            </a:pPr>
            <a:r>
              <a:rPr lang="ky-KG" sz="32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Прототипирование </a:t>
            </a:r>
            <a:endParaRPr lang="en-US" sz="3200" b="0" i="0" dirty="0" smtClean="0">
              <a:solidFill>
                <a:srgbClr val="E2E1D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3200" dirty="0" smtClean="0">
                <a:solidFill>
                  <a:srgbClr val="E2E1D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ky-KG" sz="3200" b="0" i="0" dirty="0" smtClean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естирование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38"/>
          <p:cNvSpPr/>
          <p:nvPr/>
        </p:nvSpPr>
        <p:spPr>
          <a:xfrm>
            <a:off x="0" y="0"/>
            <a:ext cx="18288000" cy="3255003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39" name="Freeform 39"/>
          <p:cNvSpPr/>
          <p:nvPr/>
        </p:nvSpPr>
        <p:spPr>
          <a:xfrm>
            <a:off x="0" y="0"/>
            <a:ext cx="18288000" cy="3255003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41" name="TextBox 41"/>
          <p:cNvSpPr txBox="1"/>
          <p:nvPr/>
        </p:nvSpPr>
        <p:spPr>
          <a:xfrm>
            <a:off x="1571812" y="424187"/>
            <a:ext cx="1514437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6525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Ключевые проблемы</a:t>
            </a:r>
            <a:endParaRPr lang="en-US" sz="6525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3198594" y="1711185"/>
            <a:ext cx="11890810" cy="288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0"/>
              </a:lnSpc>
              <a:spcBef>
                <a:spcPct val="0"/>
              </a:spcBef>
            </a:pPr>
            <a:r>
              <a:rPr lang="ky-KG" sz="3200" b="1" u="none" spc="14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Рынка туризма КР</a:t>
            </a:r>
            <a:endParaRPr lang="en-US" sz="3200" b="1" u="none" spc="14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9A4081-FD05-8485-67DD-4D86510BD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670689"/>
              </p:ext>
            </p:extLst>
          </p:nvPr>
        </p:nvGraphicFramePr>
        <p:xfrm>
          <a:off x="533400" y="3541727"/>
          <a:ext cx="12192000" cy="6536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078580845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708084004"/>
                    </a:ext>
                  </a:extLst>
                </a:gridCol>
              </a:tblGrid>
              <a:tr h="1211597">
                <a:tc>
                  <a:txBody>
                    <a:bodyPr/>
                    <a:lstStyle/>
                    <a:p>
                      <a:pPr algn="ctr"/>
                      <a:r>
                        <a:rPr lang="ky-KG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Проблемы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Последствия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0386939"/>
                  </a:ext>
                </a:extLst>
              </a:tr>
              <a:tr h="983617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Непрозрачность цен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узнаёт цену только после звонка менеджеру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233565804"/>
                  </a:ext>
                </a:extLst>
              </a:tr>
              <a:tr h="983617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мгновенного подтверждения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Оформление заявки - от нескольких часов до дней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607187866"/>
                  </a:ext>
                </a:extLst>
              </a:tr>
              <a:tr h="983617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Риск мошенничества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Недобросовестные операторы в 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Telegram-</a:t>
                      </a: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ботах и соцсетях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811978201"/>
                  </a:ext>
                </a:extLst>
              </a:tr>
              <a:tr h="983617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документальной защиты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 не получает электронного подтверждения условий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866459520"/>
                  </a:ext>
                </a:extLst>
              </a:tr>
              <a:tr h="1390631"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Несовместимость с местными платёжными системами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Stripe/PayPal </a:t>
                      </a: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недоступны</a:t>
                      </a:r>
                    </a:p>
                    <a:p>
                      <a:pPr algn="l" fontAlgn="t">
                        <a:lnSpc>
                          <a:spcPct val="100000"/>
                        </a:lnSpc>
                      </a:pP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Платежные системы КР</a:t>
                      </a:r>
                      <a:r>
                        <a:rPr lang="en-GB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y-KG" sz="2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нигде не интегрированы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27587659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74286A9-7B28-17DF-1DC8-DA9862D46C37}"/>
              </a:ext>
            </a:extLst>
          </p:cNvPr>
          <p:cNvSpPr txBox="1"/>
          <p:nvPr/>
        </p:nvSpPr>
        <p:spPr>
          <a:xfrm>
            <a:off x="13030200" y="5143500"/>
            <a:ext cx="5029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Отсутствует централизованная цифровая площадка с полным циклом бронирования и онлайн-оплаты.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344F0-B774-8ABF-33C1-BF8AF2365223}"/>
              </a:ext>
            </a:extLst>
          </p:cNvPr>
          <p:cNvSpPr txBox="1"/>
          <p:nvPr/>
        </p:nvSpPr>
        <p:spPr>
          <a:xfrm>
            <a:off x="914400" y="2551825"/>
            <a:ext cx="96012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1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y-KG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проблем и их последствий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9089" y="-149089"/>
            <a:ext cx="18586178" cy="3158989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3" name="TextBox 3"/>
          <p:cNvSpPr txBox="1"/>
          <p:nvPr/>
        </p:nvSpPr>
        <p:spPr>
          <a:xfrm>
            <a:off x="957386" y="222426"/>
            <a:ext cx="18021301" cy="1219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ky-KG" sz="6000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Сравнительный анализ существующих платформ</a:t>
            </a: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A5A1A-FF40-4C7F-C30A-9440D07EDA42}"/>
              </a:ext>
            </a:extLst>
          </p:cNvPr>
          <p:cNvSpPr txBox="1"/>
          <p:nvPr/>
        </p:nvSpPr>
        <p:spPr>
          <a:xfrm>
            <a:off x="957386" y="2204115"/>
            <a:ext cx="96012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2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y-KG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платформ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18CDCF-6588-FE51-7DCB-6A21C3D0C1C0}"/>
              </a:ext>
            </a:extLst>
          </p:cNvPr>
          <p:cNvSpPr txBox="1"/>
          <p:nvPr/>
        </p:nvSpPr>
        <p:spPr>
          <a:xfrm>
            <a:off x="13868400" y="5143500"/>
            <a:ext cx="47438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Ни одна из существующих платформ не закрывает потребности кыргызского туриста в полной мере.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721AE06-FDB9-F4B3-3B33-5DAE46913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35095"/>
              </p:ext>
            </p:extLst>
          </p:nvPr>
        </p:nvGraphicFramePr>
        <p:xfrm>
          <a:off x="452584" y="3222117"/>
          <a:ext cx="13421994" cy="6823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5394">
                  <a:extLst>
                    <a:ext uri="{9D8B030D-6E8A-4147-A177-3AD203B41FA5}">
                      <a16:colId xmlns:a16="http://schemas.microsoft.com/office/drawing/2014/main" val="16399368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7074888"/>
                    </a:ext>
                  </a:extLst>
                </a:gridCol>
                <a:gridCol w="2433003">
                  <a:extLst>
                    <a:ext uri="{9D8B030D-6E8A-4147-A177-3AD203B41FA5}">
                      <a16:colId xmlns:a16="http://schemas.microsoft.com/office/drawing/2014/main" val="2511057368"/>
                    </a:ext>
                  </a:extLst>
                </a:gridCol>
                <a:gridCol w="2236999">
                  <a:extLst>
                    <a:ext uri="{9D8B030D-6E8A-4147-A177-3AD203B41FA5}">
                      <a16:colId xmlns:a16="http://schemas.microsoft.com/office/drawing/2014/main" val="3580249211"/>
                    </a:ext>
                  </a:extLst>
                </a:gridCol>
                <a:gridCol w="2236999">
                  <a:extLst>
                    <a:ext uri="{9D8B030D-6E8A-4147-A177-3AD203B41FA5}">
                      <a16:colId xmlns:a16="http://schemas.microsoft.com/office/drawing/2014/main" val="3480031964"/>
                    </a:ext>
                  </a:extLst>
                </a:gridCol>
                <a:gridCol w="2236999">
                  <a:extLst>
                    <a:ext uri="{9D8B030D-6E8A-4147-A177-3AD203B41FA5}">
                      <a16:colId xmlns:a16="http://schemas.microsoft.com/office/drawing/2014/main" val="1187338209"/>
                    </a:ext>
                  </a:extLst>
                </a:gridCol>
              </a:tblGrid>
              <a:tr h="862689"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Платформа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Страна/ Охват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Онлайн-бронирование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Онлайн-оплата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Локализация КР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Местные платежи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236737"/>
                  </a:ext>
                </a:extLst>
              </a:tr>
              <a:tr h="836824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Booking.com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Мир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3443"/>
                  </a:ext>
                </a:extLst>
              </a:tr>
              <a:tr h="836824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Aviasales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СНГ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3841623"/>
                  </a:ext>
                </a:extLst>
              </a:tr>
              <a:tr h="836824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GetYourGuide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Мир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892467"/>
                  </a:ext>
                </a:extLst>
              </a:tr>
              <a:tr h="86268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HT.KZ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Казахстан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011804"/>
                  </a:ext>
                </a:extLst>
              </a:tr>
              <a:tr h="86268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Freedom Travel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Республика Казахстан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7367886"/>
                  </a:ext>
                </a:extLst>
              </a:tr>
              <a:tr h="86268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Kyrgyz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Кыргызская Республика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810452"/>
                  </a:ext>
                </a:extLst>
              </a:tr>
              <a:tr h="862689"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Разрабатываемая платформа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y-KG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Кыргызская Республика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07379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49089" y="-149089"/>
            <a:ext cx="18586178" cy="2854189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3" name="TextBox 3"/>
          <p:cNvSpPr txBox="1"/>
          <p:nvPr/>
        </p:nvSpPr>
        <p:spPr>
          <a:xfrm>
            <a:off x="924729" y="495300"/>
            <a:ext cx="18021301" cy="1219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ИСПОЛЬЗОВАННЫЕ ТЕХНОЛОГИИ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0A5A1A-FF40-4C7F-C30A-9440D07EDA42}"/>
              </a:ext>
            </a:extLst>
          </p:cNvPr>
          <p:cNvSpPr txBox="1"/>
          <p:nvPr/>
        </p:nvSpPr>
        <p:spPr>
          <a:xfrm>
            <a:off x="924729" y="1922082"/>
            <a:ext cx="96012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разработки были использованы: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CA7814-A603-FA2A-B7F7-3FCD85C28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415579"/>
              </p:ext>
            </p:extLst>
          </p:nvPr>
        </p:nvGraphicFramePr>
        <p:xfrm>
          <a:off x="1240693" y="2801346"/>
          <a:ext cx="15806614" cy="7392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79486">
                  <a:extLst>
                    <a:ext uri="{9D8B030D-6E8A-4147-A177-3AD203B41FA5}">
                      <a16:colId xmlns:a16="http://schemas.microsoft.com/office/drawing/2014/main" val="2648138810"/>
                    </a:ext>
                  </a:extLst>
                </a:gridCol>
                <a:gridCol w="4820839">
                  <a:extLst>
                    <a:ext uri="{9D8B030D-6E8A-4147-A177-3AD203B41FA5}">
                      <a16:colId xmlns:a16="http://schemas.microsoft.com/office/drawing/2014/main" val="1282393392"/>
                    </a:ext>
                  </a:extLst>
                </a:gridCol>
                <a:gridCol w="7606289">
                  <a:extLst>
                    <a:ext uri="{9D8B030D-6E8A-4147-A177-3AD203B41FA5}">
                      <a16:colId xmlns:a16="http://schemas.microsoft.com/office/drawing/2014/main" val="1693973530"/>
                    </a:ext>
                  </a:extLst>
                </a:gridCol>
              </a:tblGrid>
              <a:tr h="2835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проекте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2335247122"/>
                  </a:ext>
                </a:extLst>
              </a:tr>
              <a:tr h="2849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Язык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бэкенда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Kotlin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2.4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Основной язык серверной логики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524962323"/>
                  </a:ext>
                </a:extLst>
              </a:tr>
              <a:tr h="4573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Серверный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фреймворк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Boot 3.x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Ядро системы, внедрение зависимостей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3070739000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Security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Регистрация, вход, защита ресурсов и сессий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4198033481"/>
                  </a:ext>
                </a:extLst>
              </a:tr>
              <a:tr h="4273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Авторизация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Security (RBAC)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Ролевая политика доступа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3421389632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ORM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Data JPA (Hibernate)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с БД, валидации сущностей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2189631963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Hibernate Search / Specification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Многокритериальная фильтрация и поиск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2812637091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Хранилище файлов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и хранение фотографий туров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1930178641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Генерация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PDF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OpenPDF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PDF-ваучера после оплаты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1372139232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Фоновые задачи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 Task Execution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Отправка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email,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фоновая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обработка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платежей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2692444012"/>
                  </a:ext>
                </a:extLst>
              </a:tr>
              <a:tr h="3387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База данных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Основное реляционное хранилище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1480228664"/>
                  </a:ext>
                </a:extLst>
              </a:tr>
              <a:tr h="3319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CSS-фреймворк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Bootstrap 5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Адаптивная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верстка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UI-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компоненты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1536564086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Интерактивность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jQuery 3 + Custom JS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AJAX,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динамика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мастер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бронирования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2056197465"/>
                  </a:ext>
                </a:extLst>
              </a:tr>
              <a:tr h="4572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Оплата</a:t>
                      </a:r>
                      <a:endParaRPr lang="en-GB" sz="20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MBank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ElCar</a:t>
                      </a: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Интеграция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локальных</a:t>
                      </a:r>
                      <a:r>
                        <a:rPr lang="en-GB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y-KG" sz="2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платежных сервисов</a:t>
                      </a:r>
                      <a:endParaRPr lang="en-GB" sz="20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070" marR="60070" marT="0" marB="0"/>
                </a:tc>
                <a:extLst>
                  <a:ext uri="{0D108BD9-81ED-4DB2-BD59-A6C34878D82A}">
                    <a16:rowId xmlns:a16="http://schemas.microsoft.com/office/drawing/2014/main" val="3250563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38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utoShape 38">
            <a:extLst>
              <a:ext uri="{FF2B5EF4-FFF2-40B4-BE49-F238E27FC236}">
                <a16:creationId xmlns:a16="http://schemas.microsoft.com/office/drawing/2014/main" id="{9CA49DED-1AC0-1748-7D87-F2B9E32E5691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50" name="Freeform 39">
            <a:extLst>
              <a:ext uri="{FF2B5EF4-FFF2-40B4-BE49-F238E27FC236}">
                <a16:creationId xmlns:a16="http://schemas.microsoft.com/office/drawing/2014/main" id="{4ABEBF7B-7EB6-F019-4EFA-CB2F0BE21D99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51" name="TextBox 41">
            <a:extLst>
              <a:ext uri="{FF2B5EF4-FFF2-40B4-BE49-F238E27FC236}">
                <a16:creationId xmlns:a16="http://schemas.microsoft.com/office/drawing/2014/main" id="{5664A05E-A56E-82CD-BC4D-C1AD39B5B955}"/>
              </a:ext>
            </a:extLst>
          </p:cNvPr>
          <p:cNvSpPr txBox="1"/>
          <p:nvPr/>
        </p:nvSpPr>
        <p:spPr>
          <a:xfrm>
            <a:off x="1529788" y="726559"/>
            <a:ext cx="15144375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7200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Роли пользователей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52" name="TextBox 42">
            <a:extLst>
              <a:ext uri="{FF2B5EF4-FFF2-40B4-BE49-F238E27FC236}">
                <a16:creationId xmlns:a16="http://schemas.microsoft.com/office/drawing/2014/main" id="{94D68DD6-C4B7-A4B5-C3E6-103FA8F067CE}"/>
              </a:ext>
            </a:extLst>
          </p:cNvPr>
          <p:cNvSpPr txBox="1"/>
          <p:nvPr/>
        </p:nvSpPr>
        <p:spPr>
          <a:xfrm>
            <a:off x="5029200" y="2207170"/>
            <a:ext cx="1615620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y-KG" sz="32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поддерживает три роли пользователей.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1266A-FBE0-443B-88BC-438C65042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307466"/>
            <a:ext cx="8935018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C833EA-13F9-E2B9-92EA-316395F56929}"/>
              </a:ext>
            </a:extLst>
          </p:cNvPr>
          <p:cNvSpPr txBox="1"/>
          <p:nvPr/>
        </p:nvSpPr>
        <p:spPr>
          <a:xfrm>
            <a:off x="12078239" y="3377918"/>
            <a:ext cx="461317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y-KG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Турист:</a:t>
            </a:r>
            <a:endParaRPr lang="ky-KG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 туров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бронирование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оплата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отзывы</a:t>
            </a:r>
          </a:p>
          <a:p>
            <a:pPr algn="l"/>
            <a:r>
              <a:rPr lang="ky-KG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Оператор:</a:t>
            </a:r>
            <a:endParaRPr lang="ky-KG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турами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заявок</a:t>
            </a:r>
          </a:p>
          <a:p>
            <a:pPr algn="l"/>
            <a:r>
              <a:rPr lang="ky-KG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Администратор:</a:t>
            </a:r>
            <a:endParaRPr lang="ky-KG" sz="2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пользователями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y-KG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модерация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69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8">
            <a:extLst>
              <a:ext uri="{FF2B5EF4-FFF2-40B4-BE49-F238E27FC236}">
                <a16:creationId xmlns:a16="http://schemas.microsoft.com/office/drawing/2014/main" id="{E539830A-86EC-65E7-E5F3-B50315D2DCF9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A0B2E41B-F70D-8E3B-B0B3-15B50A5F304D}"/>
              </a:ext>
            </a:extLst>
          </p:cNvPr>
          <p:cNvSpPr/>
          <p:nvPr/>
        </p:nvSpPr>
        <p:spPr>
          <a:xfrm>
            <a:off x="0" y="0"/>
            <a:ext cx="18288000" cy="3255003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FAEE6589-9D45-BEFC-4FAE-BD3AD0CD30EE}"/>
              </a:ext>
            </a:extLst>
          </p:cNvPr>
          <p:cNvSpPr txBox="1"/>
          <p:nvPr/>
        </p:nvSpPr>
        <p:spPr>
          <a:xfrm>
            <a:off x="1529788" y="726559"/>
            <a:ext cx="15144375" cy="1040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8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endParaRPr lang="en-US" sz="88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9" name="TextBox 42">
            <a:extLst>
              <a:ext uri="{FF2B5EF4-FFF2-40B4-BE49-F238E27FC236}">
                <a16:creationId xmlns:a16="http://schemas.microsoft.com/office/drawing/2014/main" id="{27987318-5E69-7C98-CA08-6B141205DE23}"/>
              </a:ext>
            </a:extLst>
          </p:cNvPr>
          <p:cNvSpPr txBox="1"/>
          <p:nvPr/>
        </p:nvSpPr>
        <p:spPr>
          <a:xfrm>
            <a:off x="5486400" y="1906568"/>
            <a:ext cx="16156205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модули системы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621CE-0D56-9748-B77F-B1468358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550" y="3268646"/>
            <a:ext cx="5139486" cy="67951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8AC92-A896-148B-58E8-F53D7E9CC078}"/>
              </a:ext>
            </a:extLst>
          </p:cNvPr>
          <p:cNvSpPr txBox="1"/>
          <p:nvPr/>
        </p:nvSpPr>
        <p:spPr>
          <a:xfrm>
            <a:off x="7836196" y="4896510"/>
            <a:ext cx="101385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базируется на 10 модулях, обеспечивающих полный цикл обслуживания. </a:t>
            </a:r>
          </a:p>
          <a:p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узлы: </a:t>
            </a:r>
            <a:r>
              <a:rPr lang="ky-KG" sz="28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аутентификации</a:t>
            </a:r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гибкий фильтр каталога</a:t>
            </a:r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транзакций с поддержкой локальных платежей</a:t>
            </a:r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y-KG" sz="28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генерации ваучеров</a:t>
            </a:r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ky-KG" sz="280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многоуровневые личные кабинеты</a:t>
            </a:r>
            <a:r>
              <a:rPr lang="ky-KG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Архитектура поддерживает сквозную передачу данных между туристом и оператором с централизованным контролем через админ-панель.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3">
            <a:extLst>
              <a:ext uri="{FF2B5EF4-FFF2-40B4-BE49-F238E27FC236}">
                <a16:creationId xmlns:a16="http://schemas.microsoft.com/office/drawing/2014/main" id="{3FB7D2E8-AE81-4A1F-E97A-F5A958AEFE91}"/>
              </a:ext>
            </a:extLst>
          </p:cNvPr>
          <p:cNvSpPr txBox="1"/>
          <p:nvPr/>
        </p:nvSpPr>
        <p:spPr>
          <a:xfrm>
            <a:off x="800110" y="-9071"/>
            <a:ext cx="5600700" cy="2864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моделирования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9382E5-66B1-4C63-0DCE-71BC6D4EA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"/>
          <a:stretch/>
        </p:blipFill>
        <p:spPr>
          <a:xfrm>
            <a:off x="1257300" y="1714500"/>
            <a:ext cx="15773400" cy="7822301"/>
          </a:xfrm>
          <a:prstGeom prst="rect">
            <a:avLst/>
          </a:prstGeom>
        </p:spPr>
      </p:pic>
      <p:sp>
        <p:nvSpPr>
          <p:cNvPr id="7" name="Freeform 39">
            <a:extLst>
              <a:ext uri="{FF2B5EF4-FFF2-40B4-BE49-F238E27FC236}">
                <a16:creationId xmlns:a16="http://schemas.microsoft.com/office/drawing/2014/main" id="{ED5CA90F-9754-B9A5-14B4-221A68F9720C}"/>
              </a:ext>
            </a:extLst>
          </p:cNvPr>
          <p:cNvSpPr/>
          <p:nvPr/>
        </p:nvSpPr>
        <p:spPr>
          <a:xfrm>
            <a:off x="0" y="1"/>
            <a:ext cx="18288000" cy="1562100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27FAB91D-9E7B-A41F-F0DA-23C29E90F205}"/>
              </a:ext>
            </a:extLst>
          </p:cNvPr>
          <p:cNvSpPr txBox="1"/>
          <p:nvPr/>
        </p:nvSpPr>
        <p:spPr>
          <a:xfrm>
            <a:off x="1571812" y="260555"/>
            <a:ext cx="15144375" cy="101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6600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Пользовательский интерфейс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</p:spTree>
    <p:extLst>
      <p:ext uri="{BB962C8B-B14F-4D97-AF65-F5344CB8AC3E}">
        <p14:creationId xmlns:p14="http://schemas.microsoft.com/office/powerpoint/2010/main" val="378530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A429A-A9D0-0FFE-24C3-CA5797FA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3">
            <a:extLst>
              <a:ext uri="{FF2B5EF4-FFF2-40B4-BE49-F238E27FC236}">
                <a16:creationId xmlns:a16="http://schemas.microsoft.com/office/drawing/2014/main" id="{64DB50D6-BDA5-FD40-8708-B06603E746DF}"/>
              </a:ext>
            </a:extLst>
          </p:cNvPr>
          <p:cNvSpPr txBox="1"/>
          <p:nvPr/>
        </p:nvSpPr>
        <p:spPr>
          <a:xfrm>
            <a:off x="800110" y="-9071"/>
            <a:ext cx="5600700" cy="2864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моделирования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90C75B13-BE47-7856-8CAC-DE0EBD8F1C8D}"/>
              </a:ext>
            </a:extLst>
          </p:cNvPr>
          <p:cNvSpPr/>
          <p:nvPr/>
        </p:nvSpPr>
        <p:spPr>
          <a:xfrm>
            <a:off x="0" y="1"/>
            <a:ext cx="18288000" cy="1562100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6473005C-FAF1-3EEE-5F17-84B9BCD9A0F9}"/>
              </a:ext>
            </a:extLst>
          </p:cNvPr>
          <p:cNvSpPr txBox="1"/>
          <p:nvPr/>
        </p:nvSpPr>
        <p:spPr>
          <a:xfrm>
            <a:off x="1571812" y="260555"/>
            <a:ext cx="15144375" cy="101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6600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Пользовательский интерфейс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C13CA5-D1D9-5968-C53F-18FDA2C81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"/>
          <a:stretch/>
        </p:blipFill>
        <p:spPr>
          <a:xfrm>
            <a:off x="1431145" y="1802140"/>
            <a:ext cx="15800040" cy="784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9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7E5B2-6011-57F2-C1E6-AFCCB659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3">
            <a:extLst>
              <a:ext uri="{FF2B5EF4-FFF2-40B4-BE49-F238E27FC236}">
                <a16:creationId xmlns:a16="http://schemas.microsoft.com/office/drawing/2014/main" id="{F67E2DAF-2DC7-2241-D59D-9601E8925157}"/>
              </a:ext>
            </a:extLst>
          </p:cNvPr>
          <p:cNvSpPr txBox="1"/>
          <p:nvPr/>
        </p:nvSpPr>
        <p:spPr>
          <a:xfrm>
            <a:off x="800110" y="-9071"/>
            <a:ext cx="5600700" cy="2864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моделирования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41EE48CF-6E3C-D3A2-68FD-ACDB5E7B5A43}"/>
              </a:ext>
            </a:extLst>
          </p:cNvPr>
          <p:cNvSpPr/>
          <p:nvPr/>
        </p:nvSpPr>
        <p:spPr>
          <a:xfrm>
            <a:off x="0" y="1"/>
            <a:ext cx="18288000" cy="1562100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BEA2001D-C60C-4597-1342-E3615B56B469}"/>
              </a:ext>
            </a:extLst>
          </p:cNvPr>
          <p:cNvSpPr txBox="1"/>
          <p:nvPr/>
        </p:nvSpPr>
        <p:spPr>
          <a:xfrm>
            <a:off x="1571812" y="260555"/>
            <a:ext cx="15144375" cy="101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6600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Пользовательский интерфейс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AF8F8-5358-5E63-5EB3-4427C8B23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"/>
          <a:stretch/>
        </p:blipFill>
        <p:spPr>
          <a:xfrm>
            <a:off x="1371600" y="1822655"/>
            <a:ext cx="15719985" cy="811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AC95-F786-D2D0-A3CF-04716089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3">
            <a:extLst>
              <a:ext uri="{FF2B5EF4-FFF2-40B4-BE49-F238E27FC236}">
                <a16:creationId xmlns:a16="http://schemas.microsoft.com/office/drawing/2014/main" id="{026FB5B5-1C69-C152-A06F-2EDEAF2AEF41}"/>
              </a:ext>
            </a:extLst>
          </p:cNvPr>
          <p:cNvSpPr txBox="1"/>
          <p:nvPr/>
        </p:nvSpPr>
        <p:spPr>
          <a:xfrm>
            <a:off x="800110" y="-9071"/>
            <a:ext cx="5600700" cy="2864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моделирования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ED9EF53F-B9DF-DEBF-422F-F5567D0DC88C}"/>
              </a:ext>
            </a:extLst>
          </p:cNvPr>
          <p:cNvSpPr/>
          <p:nvPr/>
        </p:nvSpPr>
        <p:spPr>
          <a:xfrm>
            <a:off x="0" y="1"/>
            <a:ext cx="18288000" cy="1562100"/>
          </a:xfrm>
          <a:custGeom>
            <a:avLst/>
            <a:gdLst/>
            <a:ahLst/>
            <a:cxnLst/>
            <a:rect l="l" t="t" r="r" b="b"/>
            <a:pathLst>
              <a:path w="18288000" h="3255003">
                <a:moveTo>
                  <a:pt x="0" y="0"/>
                </a:moveTo>
                <a:lnTo>
                  <a:pt x="18288000" y="0"/>
                </a:lnTo>
                <a:lnTo>
                  <a:pt x="18288000" y="3255003"/>
                </a:lnTo>
                <a:lnTo>
                  <a:pt x="0" y="3255003"/>
                </a:lnTo>
                <a:lnTo>
                  <a:pt x="0" y="0"/>
                </a:lnTo>
                <a:close/>
              </a:path>
            </a:pathLst>
          </a:custGeom>
          <a:solidFill>
            <a:srgbClr val="1D3880"/>
          </a:solidFill>
        </p:spPr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3B2B0199-0BE9-C0B1-9EBD-444CBC1A3758}"/>
              </a:ext>
            </a:extLst>
          </p:cNvPr>
          <p:cNvSpPr txBox="1"/>
          <p:nvPr/>
        </p:nvSpPr>
        <p:spPr>
          <a:xfrm>
            <a:off x="1571812" y="260555"/>
            <a:ext cx="15144375" cy="10147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0"/>
              </a:lnSpc>
            </a:pPr>
            <a:r>
              <a:rPr lang="ky-KG" sz="6600" b="1" dirty="0">
                <a:solidFill>
                  <a:schemeClr val="bg1"/>
                </a:solidFill>
                <a:latin typeface="Times New Roman" panose="02020603050405020304" pitchFamily="18" charset="0"/>
                <a:ea typeface="Rubik Semi-Bold"/>
                <a:cs typeface="Times New Roman" panose="02020603050405020304" pitchFamily="18" charset="0"/>
                <a:sym typeface="Rubik Semi-Bold"/>
              </a:rPr>
              <a:t>Пользовательский интерфейс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FA12FF-4C05-654B-4EA2-1F807BCB4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"/>
          <a:stretch/>
        </p:blipFill>
        <p:spPr>
          <a:xfrm>
            <a:off x="1571812" y="1732990"/>
            <a:ext cx="15916078" cy="829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972DD06-4274-791D-ACE2-4817759BA197}"/>
              </a:ext>
            </a:extLst>
          </p:cNvPr>
          <p:cNvSpPr/>
          <p:nvPr/>
        </p:nvSpPr>
        <p:spPr>
          <a:xfrm>
            <a:off x="0" y="-169404"/>
            <a:ext cx="6925541" cy="10640898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18A743A-40A7-C6C3-5517-5671CDB6ADD9}"/>
              </a:ext>
            </a:extLst>
          </p:cNvPr>
          <p:cNvSpPr txBox="1"/>
          <p:nvPr/>
        </p:nvSpPr>
        <p:spPr>
          <a:xfrm>
            <a:off x="522834" y="289322"/>
            <a:ext cx="5059131" cy="2218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ru-RU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рекомендации</a:t>
            </a:r>
            <a:endParaRPr lang="en-US" sz="6600" b="1" dirty="0">
              <a:solidFill>
                <a:schemeClr val="bg1"/>
              </a:solidFill>
              <a:latin typeface="Times New Roman" panose="02020603050405020304" pitchFamily="18" charset="0"/>
              <a:ea typeface="Rubik Semi-Bold"/>
              <a:cs typeface="Times New Roman" panose="02020603050405020304" pitchFamily="18" charset="0"/>
              <a:sym typeface="Rubik Semi-Bold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0BAA00AD-B035-5B43-B4CD-8EF3062F9A6B}"/>
              </a:ext>
            </a:extLst>
          </p:cNvPr>
          <p:cNvSpPr txBox="1"/>
          <p:nvPr/>
        </p:nvSpPr>
        <p:spPr>
          <a:xfrm>
            <a:off x="232001" y="3615816"/>
            <a:ext cx="6461537" cy="1398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y-KG" sz="32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 результатам можно сделать следующие выводы</a:t>
            </a:r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C0FEB006-CB75-FB91-C0F5-9BE0E91E4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996" y="1608152"/>
            <a:ext cx="9279804" cy="6812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Рынок выездного туризма КР демонстрирует </a:t>
            </a:r>
            <a:r>
              <a:rPr lang="ky-KG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устойчивый спрос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(1,5–2 млн поездок/год) при крайне низком уровне цифровизации </a:t>
            </a:r>
            <a:r>
              <a:rPr lang="en-US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существует очевидный рыночный запрос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7 аналогов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показал: международные платформы не поддерживают местные платёжные системы; казахстанские — не работают с КР; местные не реализуют онлайн-цикл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Выбранный стек </a:t>
            </a:r>
            <a:r>
              <a:rPr lang="en-GB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 + Spring Boot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соответствует требованиям: высокая типизация, 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Safety, 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масштабируемость, поддержка финансовых транзакций</a:t>
            </a:r>
          </a:p>
          <a:p>
            <a:pPr algn="l">
              <a:spcAft>
                <a:spcPts val="450"/>
              </a:spcAft>
              <a:buFont typeface="+mj-lt"/>
              <a:buAutoNum type="arabicPeriod"/>
            </a:pP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 </a:t>
            </a:r>
            <a:r>
              <a:rPr lang="ky-KG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исчерпывающий перечень из 10 функциональных задач</a:t>
            </a:r>
            <a:r>
              <a:rPr lang="ky-KG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совокупная реализация которых составит конкурентоспособный </a:t>
            </a:r>
            <a:r>
              <a:rPr lang="en-GB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2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A3EC-DAD8-2A6B-6609-9BC06B7B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1C4F525-8CD8-FEC0-8391-910A27037F6C}"/>
              </a:ext>
            </a:extLst>
          </p:cNvPr>
          <p:cNvSpPr/>
          <p:nvPr/>
        </p:nvSpPr>
        <p:spPr>
          <a:xfrm rot="2472225">
            <a:off x="12423223" y="559715"/>
            <a:ext cx="7821318" cy="14747006"/>
          </a:xfrm>
          <a:prstGeom prst="rect">
            <a:avLst/>
          </a:prstGeom>
          <a:solidFill>
            <a:srgbClr val="1D3880"/>
          </a:solidFill>
        </p:spPr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B065E4D7-26FB-D358-DFE1-61BA3CF590D9}"/>
              </a:ext>
            </a:extLst>
          </p:cNvPr>
          <p:cNvSpPr/>
          <p:nvPr/>
        </p:nvSpPr>
        <p:spPr>
          <a:xfrm>
            <a:off x="3048696" y="4289885"/>
            <a:ext cx="10395074" cy="164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 :</a:t>
            </a:r>
            <a:endParaRPr lang="x-none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ky-KG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ВЕБ-ПЛАТФОРМЫ ДЛЯ ОНЛАЙН-БРОНИРОВАНИЯ ТУРИСТИЧЕСКИХ УСЛУГ</a:t>
            </a: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endParaRPr lang="ru-RU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4DC349AF-FEAC-E8C0-32F5-2BCCC8792444}"/>
              </a:ext>
            </a:extLst>
          </p:cNvPr>
          <p:cNvSpPr/>
          <p:nvPr/>
        </p:nvSpPr>
        <p:spPr>
          <a:xfrm>
            <a:off x="10896600" y="8267700"/>
            <a:ext cx="7162800" cy="1100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y-KG" sz="24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студентка группы </a:t>
            </a:r>
          </a:p>
          <a:p>
            <a:r>
              <a:rPr lang="ky-KG" sz="24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БИ(б)-1-22 </a:t>
            </a:r>
            <a:r>
              <a:rPr lang="ky-KG" sz="2400" b="1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Абдылдаева Э.М.</a:t>
            </a:r>
            <a:r>
              <a:rPr lang="ky-K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ky-K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y-KG" sz="2400" b="0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ст. преподаватель </a:t>
            </a:r>
          </a:p>
          <a:p>
            <a:r>
              <a:rPr lang="ky-KG" sz="2400" b="1" i="0" dirty="0">
                <a:solidFill>
                  <a:srgbClr val="E2E1D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Базаркул кызы Н.</a:t>
            </a:r>
            <a:endPara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991B64-173D-7093-52F4-2A862E63BE02}"/>
              </a:ext>
            </a:extLst>
          </p:cNvPr>
          <p:cNvSpPr txBox="1"/>
          <p:nvPr/>
        </p:nvSpPr>
        <p:spPr>
          <a:xfrm>
            <a:off x="2819400" y="1007134"/>
            <a:ext cx="144017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</a:t>
            </a:r>
            <a:r>
              <a:rPr lang="ky-KG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ОБРАЗОВАНИЯ, НАУКИ И ИННОВАЦИЙ </a:t>
            </a:r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Кыргызский государственный технический университет им. </a:t>
            </a:r>
            <a:r>
              <a:rPr lang="ru-RU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И.Раззакова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</a:p>
          <a:p>
            <a:pPr algn="ctr"/>
            <a:r>
              <a:rPr 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«Прикладная математика и информатика»</a:t>
            </a: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35EDBE8-1514-BE25-B448-B1462ED42E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98" y="2171700"/>
            <a:ext cx="2426172" cy="242617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2B57553C-D7F3-24C0-C3C8-9473536A73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7286" y="5728692"/>
            <a:ext cx="4833539" cy="322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4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606</Words>
  <Application>Microsoft Office PowerPoint</Application>
  <PresentationFormat>Произвольный</PresentationFormat>
  <Paragraphs>191</Paragraphs>
  <Slides>15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Aptos</vt:lpstr>
      <vt:lpstr>Calibri</vt:lpstr>
      <vt:lpstr>Rubik Semi-Bold</vt:lpstr>
      <vt:lpstr>Anthropic Sans</vt:lpstr>
      <vt:lpstr>Times New Roman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Синий и Черный Простая и Профессиональная Продажи Предложение Презентация о продажах</dc:title>
  <dc:creator>Admin1</dc:creator>
  <cp:lastModifiedBy>Onoinout</cp:lastModifiedBy>
  <cp:revision>27</cp:revision>
  <dcterms:created xsi:type="dcterms:W3CDTF">2006-08-16T00:00:00Z</dcterms:created>
  <dcterms:modified xsi:type="dcterms:W3CDTF">2026-04-21T10:37:30Z</dcterms:modified>
  <dc:identifier>DAGplNNLnQ4</dc:identifier>
</cp:coreProperties>
</file>