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84" r:id="rId4"/>
    <p:sldId id="275" r:id="rId5"/>
    <p:sldId id="271" r:id="rId6"/>
    <p:sldId id="273" r:id="rId7"/>
    <p:sldId id="286" r:id="rId8"/>
    <p:sldId id="278" r:id="rId9"/>
    <p:sldId id="279" r:id="rId10"/>
    <p:sldId id="280" r:id="rId11"/>
    <p:sldId id="281" r:id="rId12"/>
    <p:sldId id="282" r:id="rId13"/>
    <p:sldId id="287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880"/>
    <a:srgbClr val="8E9CC0"/>
    <a:srgbClr val="EBEBEB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37" y="-8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1581-BB99-4EDA-9B6D-2049E05F75E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A6389-2BB1-4E4E-B33C-98614912E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60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A6389-2BB1-4E4E-B33C-98614912EF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59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472225">
            <a:off x="12728022" y="331115"/>
            <a:ext cx="7821318" cy="14747006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746BCA7-52C7-87B5-9FD0-84060C7363BC}"/>
              </a:ext>
            </a:extLst>
          </p:cNvPr>
          <p:cNvSpPr/>
          <p:nvPr/>
        </p:nvSpPr>
        <p:spPr>
          <a:xfrm>
            <a:off x="3048696" y="4289885"/>
            <a:ext cx="10395074" cy="16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работы: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И УПРАВЛЕНИЕ ТЕКУЩИМИ ИЗДЕРЖКАМИ ПРЕДПРИЯТИЯ</a:t>
            </a:r>
            <a:endParaRPr lang="ru-RU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StudentInfo"/>
          <p:cNvSpPr txBox="1"/>
          <p:nvPr/>
        </p:nvSpPr>
        <p:spPr>
          <a:xfrm>
            <a:off x="11963400" y="7273838"/>
            <a:ext cx="6553200" cy="2565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группы БИ(б)-1-22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Романов Намыс Романович</a:t>
            </a:r>
            <a:b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Направление: 580500 «Бизнес-информатика»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Профиль: «Электронный бизнес»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Молдошев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Р.А.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5B331E-2422-BE24-60AC-CF6B33BE1DF8}"/>
              </a:ext>
            </a:extLst>
          </p:cNvPr>
          <p:cNvSpPr txBox="1"/>
          <p:nvPr/>
        </p:nvSpPr>
        <p:spPr>
          <a:xfrm>
            <a:off x="2819400" y="1007134"/>
            <a:ext cx="144017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КЫРГЫЗСКОЙ РЕСПУБЛИКИ</a:t>
            </a: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Кыргызский государственный технический университет им.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И.Раззакова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«Бизнес-информатика»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2CEC6CC-A7CA-FBDC-431B-5058BB336B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8" y="2171700"/>
            <a:ext cx="2426172" cy="24261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1F13E7A-0A8E-A60C-FDF6-C71D0632A7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286" y="5728692"/>
            <a:ext cx="4833539" cy="3222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560000" cy="10287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893639" y="800000"/>
            <a:ext cx="812723" cy="90000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ТЕМЫ: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2800000" y="600000"/>
            <a:ext cx="15200000" cy="8619835"/>
          </a:xfrm>
          <a:prstGeom prst="rect">
            <a:avLst/>
          </a:prstGeom>
          <a:noFill/>
          <a:ln/>
        </p:spPr>
        <p:txBody>
          <a:bodyPr wrap="square" lIns="100000" tIns="100000" rIns="100000" bIns="10000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обусловлена тем, что за 2023–2025 годы: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Себестоимость ОАО «Каинды-Кант» выросла в 5,85 раза — с 551 до 3 225 млн сом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Выручка выросла лишь в 3,10 раза — отставание критическое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Рентабельность продаж упала с 21,4% до 7,3% в 2024 году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Доля себестоимости в издержках достигла 92% — зависимость от сырья</a:t>
            </a:r>
          </a:p>
          <a:p>
            <a:pPr algn="l">
              <a:lnSpc>
                <a:spcPct val="100000"/>
              </a:lnSpc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необходимы: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Системный анализ текущих издержек предприятия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Выявление причин роста затратоёмкости</a:t>
            </a:r>
          </a:p>
          <a:p>
            <a:pPr algn="l">
              <a:lnSpc>
                <a:spcPct val="12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Разработка конкретных мер по оптимизации затрат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-169404"/>
            <a:ext cx="3200400" cy="10640898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4" name="Freeform 4"/>
          <p:cNvSpPr/>
          <p:nvPr/>
        </p:nvSpPr>
        <p:spPr>
          <a:xfrm>
            <a:off x="16558696" y="3545071"/>
            <a:ext cx="1237342" cy="998872"/>
          </a:xfrm>
          <a:custGeom>
            <a:avLst/>
            <a:gdLst/>
            <a:ahLst/>
            <a:cxnLst/>
            <a:rect l="l" t="t" r="r" b="b"/>
            <a:pathLst>
              <a:path w="1237342" h="998872">
                <a:moveTo>
                  <a:pt x="0" y="0"/>
                </a:moveTo>
                <a:lnTo>
                  <a:pt x="1237341" y="0"/>
                </a:lnTo>
                <a:lnTo>
                  <a:pt x="1237341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5" name="Freeform 5"/>
          <p:cNvSpPr/>
          <p:nvPr/>
        </p:nvSpPr>
        <p:spPr>
          <a:xfrm>
            <a:off x="15280307" y="5426539"/>
            <a:ext cx="969814" cy="998872"/>
          </a:xfrm>
          <a:custGeom>
            <a:avLst/>
            <a:gdLst/>
            <a:ahLst/>
            <a:cxnLst/>
            <a:rect l="l" t="t" r="r" b="b"/>
            <a:pathLst>
              <a:path w="969814" h="998872">
                <a:moveTo>
                  <a:pt x="0" y="0"/>
                </a:moveTo>
                <a:lnTo>
                  <a:pt x="969814" y="0"/>
                </a:lnTo>
                <a:lnTo>
                  <a:pt x="969814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9" name="Freeform 9"/>
          <p:cNvSpPr/>
          <p:nvPr/>
        </p:nvSpPr>
        <p:spPr>
          <a:xfrm>
            <a:off x="16686103" y="1769362"/>
            <a:ext cx="982527" cy="998872"/>
          </a:xfrm>
          <a:custGeom>
            <a:avLst/>
            <a:gdLst/>
            <a:ahLst/>
            <a:cxnLst/>
            <a:rect l="l" t="t" r="r" b="b"/>
            <a:pathLst>
              <a:path w="982527" h="998872">
                <a:moveTo>
                  <a:pt x="0" y="0"/>
                </a:moveTo>
                <a:lnTo>
                  <a:pt x="982527" y="0"/>
                </a:lnTo>
                <a:lnTo>
                  <a:pt x="982527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11" name="Freeform 11"/>
          <p:cNvSpPr/>
          <p:nvPr/>
        </p:nvSpPr>
        <p:spPr>
          <a:xfrm>
            <a:off x="15339331" y="3553143"/>
            <a:ext cx="851766" cy="998872"/>
          </a:xfrm>
          <a:custGeom>
            <a:avLst/>
            <a:gdLst/>
            <a:ahLst/>
            <a:cxnLst/>
            <a:rect l="l" t="t" r="r" b="b"/>
            <a:pathLst>
              <a:path w="851766" h="998872">
                <a:moveTo>
                  <a:pt x="0" y="0"/>
                </a:moveTo>
                <a:lnTo>
                  <a:pt x="851766" y="0"/>
                </a:lnTo>
                <a:lnTo>
                  <a:pt x="851766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13" name="Freeform 13"/>
          <p:cNvSpPr/>
          <p:nvPr/>
        </p:nvSpPr>
        <p:spPr>
          <a:xfrm>
            <a:off x="15174483" y="1777434"/>
            <a:ext cx="1181462" cy="998872"/>
          </a:xfrm>
          <a:custGeom>
            <a:avLst/>
            <a:gdLst/>
            <a:ahLst/>
            <a:cxnLst/>
            <a:rect l="l" t="t" r="r" b="b"/>
            <a:pathLst>
              <a:path w="1181462" h="998872">
                <a:moveTo>
                  <a:pt x="0" y="0"/>
                </a:moveTo>
                <a:lnTo>
                  <a:pt x="1181462" y="0"/>
                </a:lnTo>
                <a:lnTo>
                  <a:pt x="1181462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14" name="Freeform 14"/>
          <p:cNvSpPr/>
          <p:nvPr/>
        </p:nvSpPr>
        <p:spPr>
          <a:xfrm>
            <a:off x="16459200" y="5345981"/>
            <a:ext cx="1436333" cy="1143844"/>
          </a:xfrm>
          <a:custGeom>
            <a:avLst/>
            <a:gdLst/>
            <a:ahLst/>
            <a:cxnLst/>
            <a:rect l="l" t="t" r="r" b="b"/>
            <a:pathLst>
              <a:path w="1436333" h="1143844">
                <a:moveTo>
                  <a:pt x="0" y="0"/>
                </a:moveTo>
                <a:lnTo>
                  <a:pt x="1436333" y="0"/>
                </a:lnTo>
                <a:lnTo>
                  <a:pt x="1436333" y="1143844"/>
                </a:lnTo>
                <a:lnTo>
                  <a:pt x="0" y="1143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21" name="Freeform 21"/>
          <p:cNvSpPr/>
          <p:nvPr/>
        </p:nvSpPr>
        <p:spPr>
          <a:xfrm>
            <a:off x="15205851" y="7322480"/>
            <a:ext cx="1118726" cy="1118726"/>
          </a:xfrm>
          <a:custGeom>
            <a:avLst/>
            <a:gdLst/>
            <a:ahLst/>
            <a:cxnLst/>
            <a:rect l="l" t="t" r="r" b="b"/>
            <a:pathLst>
              <a:path w="1118726" h="1118726">
                <a:moveTo>
                  <a:pt x="0" y="0"/>
                </a:moveTo>
                <a:lnTo>
                  <a:pt x="1118726" y="0"/>
                </a:lnTo>
                <a:lnTo>
                  <a:pt x="1118726" y="1118727"/>
                </a:lnTo>
                <a:lnTo>
                  <a:pt x="0" y="1118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22" name="Freeform 22"/>
          <p:cNvSpPr/>
          <p:nvPr/>
        </p:nvSpPr>
        <p:spPr>
          <a:xfrm>
            <a:off x="16652086" y="7331737"/>
            <a:ext cx="1050561" cy="1084069"/>
          </a:xfrm>
          <a:custGeom>
            <a:avLst/>
            <a:gdLst/>
            <a:ahLst/>
            <a:cxnLst/>
            <a:rect l="l" t="t" r="r" b="b"/>
            <a:pathLst>
              <a:path w="1050561" h="1084069">
                <a:moveTo>
                  <a:pt x="0" y="0"/>
                </a:moveTo>
                <a:lnTo>
                  <a:pt x="1050561" y="0"/>
                </a:lnTo>
                <a:lnTo>
                  <a:pt x="1050561" y="1084069"/>
                </a:lnTo>
                <a:lnTo>
                  <a:pt x="0" y="1084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KG"/>
          </a:p>
        </p:txBody>
      </p:sp>
      <p:sp>
        <p:nvSpPr>
          <p:cNvPr id="23" name="TextBox 23"/>
          <p:cNvSpPr txBox="1"/>
          <p:nvPr/>
        </p:nvSpPr>
        <p:spPr>
          <a:xfrm rot="16200000">
            <a:off x="-697176" y="3146393"/>
            <a:ext cx="56007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:</a:t>
            </a:r>
            <a:b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500869" y="25400"/>
            <a:ext cx="11344708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  <a:p>
            <a:pPr marL="0" lvl="1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текущих издержек ОАО «Каинды-Кант» за 2023–2025 годы и разработка рекомендаций по совершенствованию системы 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затратами.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527910" y="2678525"/>
            <a:ext cx="11344708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РАБОТЫ:</a:t>
            </a:r>
          </a:p>
          <a:p>
            <a:pPr marL="0" lvl="1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цели были поставлены следующие задачи: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теоретические основы управления текущими издержками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методы анализа затрат и отраслевую специфику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Дать характеристику ОАО «Каинды-Кант»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горизонтальный и вертикальный анализ издержек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и структуру оборотных активов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факторный анализ и маржинальный анализ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рекомендации по оптимизации издержек</a:t>
            </a:r>
          </a:p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экономический эффект от предложенных мероприятий</a:t>
            </a:r>
          </a:p>
        </p:txBody>
      </p:sp>
    </p:spTree>
    <p:extLst>
      <p:ext uri="{BB962C8B-B14F-4D97-AF65-F5344CB8AC3E}">
        <p14:creationId xmlns:p14="http://schemas.microsoft.com/office/powerpoint/2010/main" val="348781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700" y="0"/>
            <a:ext cx="8686800" cy="10640898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23" name="TextBox 23"/>
          <p:cNvSpPr txBox="1"/>
          <p:nvPr/>
        </p:nvSpPr>
        <p:spPr>
          <a:xfrm>
            <a:off x="1028700" y="1225758"/>
            <a:ext cx="5600700" cy="650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6000" y="3162300"/>
            <a:ext cx="6756400" cy="2866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ОАО «Каинды-Кант» — ведущий производитель сахара-песка в Кыргызской Республике (г. Каинда, Чуйская область). Переработка сахарной свёклы и сахара-сырца. Отчётность по МСФО, данные КФБ за 2023–2025 гг.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10272450" y="3162300"/>
            <a:ext cx="6100331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издержки предприятия, методы их анализа и система управления затратами в рамках операционной деятельности ОАО «Каинды-Кант».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363200" y="1135348"/>
            <a:ext cx="6047681" cy="7425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2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20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ИНФОРМАЦИОННАЯ БАЗА ИССЛЕДОВАНИЯ</a:t>
            </a:r>
          </a:p>
        </p:txBody>
      </p:sp>
      <p:sp>
        <p:nvSpPr>
          <p:cNvPr id="5" name="Box0"/>
          <p:cNvSpPr txBox="1"/>
          <p:nvPr/>
        </p:nvSpPr>
        <p:spPr>
          <a:xfrm>
            <a:off x="475419" y="2400000"/>
            <a:ext cx="59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Горизонтальный анализ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показателей затрат 2023–2025 гг. в абсолютном и относительном выражении</a:t>
            </a:r>
          </a:p>
        </p:txBody>
      </p:sp>
      <p:sp>
        <p:nvSpPr>
          <p:cNvPr id="6" name="Box1"/>
          <p:cNvSpPr txBox="1"/>
          <p:nvPr/>
        </p:nvSpPr>
        <p:spPr>
          <a:xfrm>
            <a:off x="6700000" y="2400000"/>
            <a:ext cx="59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Вертикальный анализ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удельного веса каждой статьи в общей сумме текущих издержек</a:t>
            </a:r>
          </a:p>
        </p:txBody>
      </p:sp>
      <p:sp>
        <p:nvSpPr>
          <p:cNvPr id="7" name="Box2"/>
          <p:cNvSpPr txBox="1"/>
          <p:nvPr/>
        </p:nvSpPr>
        <p:spPr>
          <a:xfrm>
            <a:off x="12900000" y="2400000"/>
            <a:ext cx="52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Факторный анализ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цепных подстановок для оценки влияния факторов на затратоёмкость</a:t>
            </a:r>
          </a:p>
        </p:txBody>
      </p:sp>
      <p:sp>
        <p:nvSpPr>
          <p:cNvPr id="8" name="Box3"/>
          <p:cNvSpPr txBox="1"/>
          <p:nvPr/>
        </p:nvSpPr>
        <p:spPr>
          <a:xfrm>
            <a:off x="500000" y="6200000"/>
            <a:ext cx="59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CVP-анализ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точки безубыточности, маржинального дохода и запаса финансовой прочности</a:t>
            </a:r>
          </a:p>
        </p:txBody>
      </p:sp>
      <p:sp>
        <p:nvSpPr>
          <p:cNvPr id="9" name="Box4"/>
          <p:cNvSpPr txBox="1"/>
          <p:nvPr/>
        </p:nvSpPr>
        <p:spPr>
          <a:xfrm>
            <a:off x="6700000" y="6200000"/>
            <a:ext cx="59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коэффициентов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Затратоёмкость, рентабельность продаж, ROA, коэффициент МД</a:t>
            </a:r>
          </a:p>
        </p:txBody>
      </p:sp>
      <p:sp>
        <p:nvSpPr>
          <p:cNvPr id="10" name="Box5"/>
          <p:cNvSpPr txBox="1"/>
          <p:nvPr/>
        </p:nvSpPr>
        <p:spPr>
          <a:xfrm>
            <a:off x="12900000" y="6200000"/>
            <a:ext cx="5200000" cy="3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150000" tIns="120000" rIns="150000" bIns="120000" rtlCol="0" anchor="t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база</a:t>
            </a:r>
          </a:p>
          <a:p>
            <a:pPr algn="l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Отчётность ОАО «Каинды-Кант» по МСФО (КФБ, kse.kg), 2023–2025 гг.</a:t>
            </a:r>
          </a:p>
          <a:p>
            <a:pPr algn="l">
              <a:lnSpc>
                <a:spcPct val="12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ПОКАЗАТЕЛИ ОАО «КАИНДЫ-КАНТ» ЗА 2023–2025 ГГ.</a:t>
            </a:r>
          </a:p>
        </p:txBody>
      </p:sp>
      <p:sp>
        <p:nvSpPr>
          <p:cNvPr id="4" name="KPI0"/>
          <p:cNvSpPr txBox="1"/>
          <p:nvPr/>
        </p:nvSpPr>
        <p:spPr>
          <a:xfrm>
            <a:off x="300000" y="2200000"/>
            <a:ext cx="3900000" cy="45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5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4,68x</a:t>
            </a:r>
          </a:p>
          <a:p>
            <a:pPr algn="ctr">
              <a:lnSpc>
                <a:spcPct val="110000"/>
              </a:lnSpc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 текущих
издержек</a:t>
            </a:r>
          </a:p>
          <a:p>
            <a:pPr algn="ctr">
              <a:lnSpc>
                <a:spcPct val="110000"/>
              </a:lnSpc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749 → 3 504 млн сом</a:t>
            </a:r>
          </a:p>
        </p:txBody>
      </p:sp>
      <p:sp>
        <p:nvSpPr>
          <p:cNvPr id="5" name="KPI1"/>
          <p:cNvSpPr txBox="1"/>
          <p:nvPr/>
        </p:nvSpPr>
        <p:spPr>
          <a:xfrm>
            <a:off x="4900000" y="2200000"/>
            <a:ext cx="3900000" cy="450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5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92,0%</a:t>
            </a:r>
          </a:p>
          <a:p>
            <a:pPr algn="ctr">
              <a:lnSpc>
                <a:spcPct val="110000"/>
              </a:lnSpc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себестоимости
в издержках 2025 г.</a:t>
            </a:r>
          </a:p>
          <a:p>
            <a:pPr algn="ctr">
              <a:lnSpc>
                <a:spcPct val="110000"/>
              </a:lnSpc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Было 73,5% в 2023 г.</a:t>
            </a:r>
          </a:p>
        </p:txBody>
      </p:sp>
      <p:sp>
        <p:nvSpPr>
          <p:cNvPr id="6" name="KPI2"/>
          <p:cNvSpPr txBox="1"/>
          <p:nvPr/>
        </p:nvSpPr>
        <p:spPr>
          <a:xfrm>
            <a:off x="9500000" y="2200000"/>
            <a:ext cx="3900000" cy="45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5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0,8500</a:t>
            </a:r>
          </a:p>
          <a:p>
            <a:pPr algn="ctr">
              <a:lnSpc>
                <a:spcPct val="110000"/>
              </a:lnSpc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Затратоёмкость
2025 г. (сом/сом)</a:t>
            </a:r>
          </a:p>
          <a:p>
            <a:pPr algn="ctr">
              <a:lnSpc>
                <a:spcPct val="110000"/>
              </a:lnSpc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Было 0,5642 в 2023 г.</a:t>
            </a:r>
          </a:p>
        </p:txBody>
      </p:sp>
      <p:sp>
        <p:nvSpPr>
          <p:cNvPr id="7" name="KPI3"/>
          <p:cNvSpPr txBox="1"/>
          <p:nvPr/>
        </p:nvSpPr>
        <p:spPr>
          <a:xfrm>
            <a:off x="14100000" y="2200000"/>
            <a:ext cx="3900000" cy="450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5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9,6%</a:t>
            </a:r>
          </a:p>
          <a:p>
            <a:pPr algn="ctr">
              <a:lnSpc>
                <a:spcPct val="110000"/>
              </a:lnSpc>
            </a:pP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
продаж 2025 г.</a:t>
            </a:r>
          </a:p>
          <a:p>
            <a:pPr algn="ctr">
              <a:lnSpc>
                <a:spcPct val="110000"/>
              </a:lnSpc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Было 21,4% в 2023 г.</a:t>
            </a:r>
          </a:p>
        </p:txBody>
      </p:sp>
      <p:sp>
        <p:nvSpPr>
          <p:cNvPr id="10" name="TableHdr"/>
          <p:cNvSpPr txBox="1"/>
          <p:nvPr/>
        </p:nvSpPr>
        <p:spPr>
          <a:xfrm>
            <a:off x="300000" y="7000000"/>
            <a:ext cx="17700000" cy="25631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г.: выручка 1 328 млн сом | издержки 749 млн сом | рентабельность 21,4%    |    2024 г.: выручка 2 086 млн сом | издержки 1 838 млн сом | рентабельность 7,3%    |    2025 г.: выручка 4 122 млн сом | издержки 3 504 млн сом | рентабельность 9,6%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ГОРИЗОНТАЛЬНЫЙ И ВЕРТИКАЛЬНЫЙ АНАЛИЗ ИЗДЕРЖЕК</a:t>
            </a:r>
          </a:p>
        </p:txBody>
      </p:sp>
      <p:sp>
        <p:nvSpPr>
          <p:cNvPr id="4" name="Left"/>
          <p:cNvSpPr txBox="1"/>
          <p:nvPr/>
        </p:nvSpPr>
        <p:spPr>
          <a:xfrm>
            <a:off x="300000" y="2200000"/>
            <a:ext cx="8400000" cy="4566007"/>
          </a:xfrm>
          <a:prstGeom prst="rect">
            <a:avLst/>
          </a:prstGeom>
          <a:noFill/>
          <a:ln/>
        </p:spPr>
        <p:txBody>
          <a:bodyPr wrap="square" lIns="150000" tIns="150000" rIns="15000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Горизонтальный анализ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Себестоимость: +485,2% (551 → 3 225 млн сом)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Расх. по реализации: +26,5% (71 → 90 млн сом)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Адм. расходы: +48,8% (127 → 190 млн сом)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Итого издержки: +367,6% (749 → 3 504 млн сом)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Выручка: +210,4% (1 328 → 4 122 млн сом)</a:t>
            </a:r>
          </a:p>
          <a:p>
            <a:pPr algn="l">
              <a:lnSpc>
                <a:spcPct val="10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себестоимость растёт в 2,3 раза быстрее выручки!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9200000" y="2200000"/>
            <a:ext cx="8700000" cy="5324932"/>
          </a:xfrm>
          <a:prstGeom prst="rect">
            <a:avLst/>
          </a:prstGeom>
          <a:noFill/>
          <a:ln/>
        </p:spPr>
        <p:txBody>
          <a:bodyPr wrap="square" lIns="150000" tIns="150000" rIns="15000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Вертикальный анализ (структура издержек)</a:t>
            </a:r>
          </a:p>
          <a:p>
            <a:pPr algn="l">
              <a:lnSpc>
                <a:spcPct val="80000"/>
              </a:lnSpc>
            </a:pPr>
            <a:endParaRPr lang="ru-RU" sz="2800" b="1" dirty="0">
              <a:solidFill>
                <a:srgbClr val="1D38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                          2023     2024     2025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Себестоимость              73,5%   86,4%   92,0%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Расх. по реализации      9,5%     3,0%     2,6%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Адм. расходы                17,0%   10,6%     5,4%</a:t>
            </a:r>
          </a:p>
          <a:p>
            <a:pPr algn="l">
              <a:lnSpc>
                <a:spcPct val="8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2025 к 2023: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Себестоимость: +18,5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п.п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Адм. расходы: –11,6 п.п.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Расх. реализации: –6,9 п.п.</a:t>
            </a:r>
          </a:p>
        </p:txBody>
      </p:sp>
      <p:sp>
        <p:nvSpPr>
          <p:cNvPr id="6" name="Divider"/>
          <p:cNvSpPr/>
          <p:nvPr/>
        </p:nvSpPr>
        <p:spPr>
          <a:xfrm>
            <a:off x="8900000" y="2200000"/>
            <a:ext cx="50000" cy="77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ФАКТОРНЫЙ АНАЛИЗ И ЗАТРАТОЁМКОСТЬ</a:t>
            </a:r>
          </a:p>
        </p:txBody>
      </p:sp>
      <p:sp>
        <p:nvSpPr>
          <p:cNvPr id="4" name="Left"/>
          <p:cNvSpPr txBox="1"/>
          <p:nvPr/>
        </p:nvSpPr>
        <p:spPr>
          <a:xfrm>
            <a:off x="300000" y="2200000"/>
            <a:ext cx="8500000" cy="4824539"/>
          </a:xfrm>
          <a:prstGeom prst="rect">
            <a:avLst/>
          </a:prstGeom>
          <a:noFill/>
          <a:ln/>
        </p:spPr>
        <p:txBody>
          <a:bodyPr wrap="square" lIns="150000" tIns="150000" rIns="15000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Факторный анализ (2025 vs 2023):</a:t>
            </a:r>
          </a:p>
          <a:p>
            <a:pPr algn="l">
              <a:lnSpc>
                <a:spcPct val="80000"/>
              </a:lnSpc>
            </a:pPr>
            <a:endParaRPr lang="ru-RU" sz="2800" b="1" dirty="0">
              <a:solidFill>
                <a:srgbClr val="1D38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                             Влияние на издержки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себестоимости (сырьё)      +1 636,60 млн сом</a:t>
            </a:r>
          </a:p>
          <a:p>
            <a:pPr algn="l">
              <a:lnSpc>
                <a:spcPct val="115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от прироста:                       95,5%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Изм. расходов по реализации       +18,80 млн сом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Изм. адм. расходов                     +62,13 млн сом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выручки (сдерживающий)           –0,0255 сом/сом</a:t>
            </a:r>
          </a:p>
          <a:p>
            <a:pPr algn="l">
              <a:lnSpc>
                <a:spcPct val="8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 прирост издержек: +2 754,79 млн сом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9200000" y="2200000"/>
            <a:ext cx="8700000" cy="6682740"/>
          </a:xfrm>
          <a:prstGeom prst="rect">
            <a:avLst/>
          </a:prstGeom>
          <a:noFill/>
          <a:ln/>
        </p:spPr>
        <p:txBody>
          <a:bodyPr wrap="square" lIns="150000" tIns="150000" rIns="15000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расчёты:</a:t>
            </a:r>
          </a:p>
          <a:p>
            <a:pPr algn="l">
              <a:lnSpc>
                <a:spcPct val="80000"/>
              </a:lnSpc>
            </a:pPr>
            <a:endParaRPr lang="ru-RU" sz="2800" b="1" dirty="0">
              <a:solidFill>
                <a:srgbClr val="1D38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Затратоёмкость: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г.: 0,5642 сом/сом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г.: 0,8812 сом/сом (+56,2%)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г.: 0,8500 сом/сом</a:t>
            </a:r>
          </a:p>
          <a:p>
            <a:pPr algn="l">
              <a:lnSpc>
                <a:spcPct val="8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Потеря прибыли в 2024 г.: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ΔП = 0,3170 × 2 085,68 = 661 млн сом</a:t>
            </a:r>
          </a:p>
          <a:p>
            <a:pPr algn="l">
              <a:lnSpc>
                <a:spcPct val="8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CVP-анализ 2025 г.: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КМД: 21,8% (было 58,5% в 2023 г.)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безубыточности: 1 283 млн сом</a:t>
            </a:r>
          </a:p>
          <a:p>
            <a:pPr algn="l">
              <a:lnSpc>
                <a:spcPct val="115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Запас финансовой прочности: 68,9%</a:t>
            </a:r>
          </a:p>
        </p:txBody>
      </p:sp>
      <p:sp>
        <p:nvSpPr>
          <p:cNvPr id="6" name="Divider"/>
          <p:cNvSpPr/>
          <p:nvPr/>
        </p:nvSpPr>
        <p:spPr>
          <a:xfrm>
            <a:off x="8900000" y="2200000"/>
            <a:ext cx="50000" cy="77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 ПО ОПТИМИЗАЦИИ ТЕКУЩИХ ИЗДЕРЖЕК</a:t>
            </a:r>
          </a:p>
        </p:txBody>
      </p:sp>
      <p:sp>
        <p:nvSpPr>
          <p:cNvPr id="4" name="Num0"/>
          <p:cNvSpPr txBox="1"/>
          <p:nvPr/>
        </p:nvSpPr>
        <p:spPr>
          <a:xfrm>
            <a:off x="300000" y="2150000"/>
            <a:ext cx="700000" cy="135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Rec0"/>
          <p:cNvSpPr txBox="1"/>
          <p:nvPr/>
        </p:nvSpPr>
        <p:spPr>
          <a:xfrm>
            <a:off x="1200000" y="2150000"/>
            <a:ext cx="16800000" cy="1350000"/>
          </a:xfrm>
          <a:prstGeom prst="rect">
            <a:avLst/>
          </a:prstGeom>
          <a:noFill/>
          <a:ln w="12700">
            <a:solidFill>
              <a:srgbClr val="E8EAF0"/>
            </a:solidFill>
          </a:ln>
        </p:spPr>
        <p:txBody>
          <a:bodyPr wrap="square" lIns="200000" tIns="100000" rIns="200000" bIns="0" rtlCol="0" anchor="ctr"/>
          <a:lstStyle/>
          <a:p>
            <a:pPr algn="l">
              <a:lnSpc>
                <a:spcPct val="110000"/>
              </a:lnSpc>
            </a:pPr>
            <a:r>
              <a:rPr lang="ru-RU" sz="23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закупочной стоимостью сырья</a:t>
            </a:r>
          </a:p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Долгосрочные контракты с фиксацией цен, диверсификация поставщиков, стратегический запас. Экономия: 3–5% от себестоимости</a:t>
            </a:r>
          </a:p>
        </p:txBody>
      </p:sp>
      <p:sp>
        <p:nvSpPr>
          <p:cNvPr id="7" name="Num1"/>
          <p:cNvSpPr txBox="1"/>
          <p:nvPr/>
        </p:nvSpPr>
        <p:spPr>
          <a:xfrm>
            <a:off x="300000" y="3700000"/>
            <a:ext cx="700000" cy="135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1"/>
          <p:cNvSpPr txBox="1"/>
          <p:nvPr/>
        </p:nvSpPr>
        <p:spPr>
          <a:xfrm>
            <a:off x="1200000" y="3700000"/>
            <a:ext cx="16800000" cy="1350000"/>
          </a:xfrm>
          <a:prstGeom prst="rect">
            <a:avLst/>
          </a:prstGeom>
          <a:noFill/>
          <a:ln w="12700">
            <a:solidFill>
              <a:srgbClr val="E8EAF0"/>
            </a:solidFill>
          </a:ln>
        </p:spPr>
        <p:txBody>
          <a:bodyPr wrap="square" lIns="200000" tIns="100000" rIns="200000" bIns="0" rtlCol="0" anchor="ctr"/>
          <a:lstStyle/>
          <a:p>
            <a:pPr algn="l">
              <a:lnSpc>
                <a:spcPct val="110000"/>
              </a:lnSpc>
            </a:pPr>
            <a:r>
              <a:rPr lang="ru-RU" sz="23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Нормирование производственных затрат</a:t>
            </a:r>
          </a:p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Нормативы выхода сахара, расхода энергоресурсов, известняка. Ежемесячный контроль отклонений от нормативов</a:t>
            </a:r>
          </a:p>
        </p:txBody>
      </p:sp>
      <p:sp>
        <p:nvSpPr>
          <p:cNvPr id="10" name="Num2"/>
          <p:cNvSpPr txBox="1"/>
          <p:nvPr/>
        </p:nvSpPr>
        <p:spPr>
          <a:xfrm>
            <a:off x="300000" y="5250000"/>
            <a:ext cx="700000" cy="135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Rec2"/>
          <p:cNvSpPr txBox="1"/>
          <p:nvPr/>
        </p:nvSpPr>
        <p:spPr>
          <a:xfrm>
            <a:off x="1200000" y="5250000"/>
            <a:ext cx="16800000" cy="1350000"/>
          </a:xfrm>
          <a:prstGeom prst="rect">
            <a:avLst/>
          </a:prstGeom>
          <a:noFill/>
          <a:ln w="12700">
            <a:solidFill>
              <a:srgbClr val="E8EAF0"/>
            </a:solidFill>
          </a:ln>
        </p:spPr>
        <p:txBody>
          <a:bodyPr wrap="square" lIns="200000" tIns="100000" rIns="200000" bIns="0" rtlCol="0" anchor="ctr"/>
          <a:lstStyle/>
          <a:p>
            <a:pPr algn="l">
              <a:lnSpc>
                <a:spcPct val="110000"/>
              </a:lnSpc>
            </a:pPr>
            <a:r>
              <a:rPr lang="ru-RU" sz="23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ассортиментной политики</a:t>
            </a:r>
          </a:p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производства высокомаржинальных побочных продуктов: кормовой жом, меласса, патока</a:t>
            </a:r>
          </a:p>
        </p:txBody>
      </p:sp>
      <p:sp>
        <p:nvSpPr>
          <p:cNvPr id="13" name="Num3"/>
          <p:cNvSpPr txBox="1"/>
          <p:nvPr/>
        </p:nvSpPr>
        <p:spPr>
          <a:xfrm>
            <a:off x="300000" y="6800000"/>
            <a:ext cx="700000" cy="135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" name="Rec3"/>
          <p:cNvSpPr txBox="1"/>
          <p:nvPr/>
        </p:nvSpPr>
        <p:spPr>
          <a:xfrm>
            <a:off x="1200000" y="6800000"/>
            <a:ext cx="16800000" cy="1350000"/>
          </a:xfrm>
          <a:prstGeom prst="rect">
            <a:avLst/>
          </a:prstGeom>
          <a:noFill/>
          <a:ln w="12700">
            <a:solidFill>
              <a:srgbClr val="E8EAF0"/>
            </a:solidFill>
          </a:ln>
        </p:spPr>
        <p:txBody>
          <a:bodyPr wrap="square" lIns="200000" tIns="100000" rIns="200000" bIns="0" rtlCol="0" anchor="ctr"/>
          <a:lstStyle/>
          <a:p>
            <a:pPr algn="l">
              <a:lnSpc>
                <a:spcPct val="110000"/>
              </a:lnSpc>
            </a:pPr>
            <a:r>
              <a:rPr lang="ru-RU" sz="23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 управления затратами</a:t>
            </a:r>
          </a:p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ERP-системы, учёт по центрам финансовой ответственности, автоматизация управленческой отчётности</a:t>
            </a:r>
          </a:p>
        </p:txBody>
      </p:sp>
      <p:sp>
        <p:nvSpPr>
          <p:cNvPr id="16" name="Num4"/>
          <p:cNvSpPr txBox="1"/>
          <p:nvPr/>
        </p:nvSpPr>
        <p:spPr>
          <a:xfrm>
            <a:off x="300000" y="8350000"/>
            <a:ext cx="700000" cy="135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7" name="Rec4"/>
          <p:cNvSpPr txBox="1"/>
          <p:nvPr/>
        </p:nvSpPr>
        <p:spPr>
          <a:xfrm>
            <a:off x="1200000" y="8350000"/>
            <a:ext cx="16800000" cy="1350000"/>
          </a:xfrm>
          <a:prstGeom prst="rect">
            <a:avLst/>
          </a:prstGeom>
          <a:noFill/>
          <a:ln w="12700">
            <a:solidFill>
              <a:srgbClr val="E8EAF0"/>
            </a:solidFill>
          </a:ln>
        </p:spPr>
        <p:txBody>
          <a:bodyPr wrap="square" lIns="200000" tIns="100000" rIns="200000" bIns="0" rtlCol="0" anchor="ctr"/>
          <a:lstStyle/>
          <a:p>
            <a:pPr algn="l">
              <a:lnSpc>
                <a:spcPct val="110000"/>
              </a:lnSpc>
            </a:pPr>
            <a:r>
              <a:rPr lang="ru-RU" sz="23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Гибкое бюджетирование</a:t>
            </a:r>
          </a:p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Ежеквартальный гибкий бюджет с учётом сезонности, резервный фонд для межсезонного периода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ЭКОНОМИЧЕСКОГО ЭФФЕКТА ОТ РЕКОМЕНДАЦИЙ</a:t>
            </a:r>
          </a:p>
        </p:txBody>
      </p:sp>
      <p:sp>
        <p:nvSpPr>
          <p:cNvPr id="4" name="Calc0"/>
          <p:cNvSpPr txBox="1"/>
          <p:nvPr/>
        </p:nvSpPr>
        <p:spPr>
          <a:xfrm>
            <a:off x="300000" y="2200000"/>
            <a:ext cx="5700000" cy="50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Э₁ = 3 224,95 × 0,05</a:t>
            </a:r>
          </a:p>
          <a:p>
            <a:pPr algn="ctr">
              <a:lnSpc>
                <a:spcPct val="12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161,25 млн сом</a:t>
            </a:r>
          </a:p>
          <a:p>
            <a:pPr algn="ctr">
              <a:lnSpc>
                <a:spcPct val="120000"/>
              </a:lnSpc>
            </a:pPr>
            <a:r>
              <a:rPr lang="ru-RU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себестоимости на 5%
(долгосрочные контракты)</a:t>
            </a:r>
          </a:p>
        </p:txBody>
      </p:sp>
      <p:sp>
        <p:nvSpPr>
          <p:cNvPr id="5" name="Calc1"/>
          <p:cNvSpPr txBox="1"/>
          <p:nvPr/>
        </p:nvSpPr>
        <p:spPr>
          <a:xfrm>
            <a:off x="6200000" y="2200000"/>
            <a:ext cx="5700000" cy="50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Э₂ = 189,53 × 0,15</a:t>
            </a:r>
          </a:p>
          <a:p>
            <a:pPr algn="ctr">
              <a:lnSpc>
                <a:spcPct val="12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28,43 млн сом</a:t>
            </a:r>
          </a:p>
          <a:p>
            <a:pPr algn="ctr">
              <a:lnSpc>
                <a:spcPct val="120000"/>
              </a:lnSpc>
            </a:pPr>
            <a:r>
              <a:rPr lang="ru-RU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адм. расходов на 15%
(цифровизация, ERP)</a:t>
            </a:r>
          </a:p>
        </p:txBody>
      </p:sp>
      <p:sp>
        <p:nvSpPr>
          <p:cNvPr id="6" name="Calc2"/>
          <p:cNvSpPr txBox="1"/>
          <p:nvPr/>
        </p:nvSpPr>
        <p:spPr>
          <a:xfrm>
            <a:off x="12100000" y="2200000"/>
            <a:ext cx="5700000" cy="50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Эсов = 161,25 + 28,43</a:t>
            </a:r>
          </a:p>
          <a:p>
            <a:pPr algn="ctr">
              <a:lnSpc>
                <a:spcPct val="12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189,68 млн сом</a:t>
            </a:r>
          </a:p>
          <a:p>
            <a:pPr algn="ctr">
              <a:lnSpc>
                <a:spcPct val="120000"/>
              </a:lnSpc>
            </a:pPr>
            <a:r>
              <a:rPr lang="ru-RU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Совокупный экономический
эффект (–5,4% издержек)</a:t>
            </a:r>
          </a:p>
        </p:txBody>
      </p:sp>
      <p:sp>
        <p:nvSpPr>
          <p:cNvPr id="7" name="Results"/>
          <p:cNvSpPr txBox="1"/>
          <p:nvPr/>
        </p:nvSpPr>
        <p:spPr>
          <a:xfrm>
            <a:off x="300000" y="7500000"/>
            <a:ext cx="17700000" cy="26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300000" tIns="200000" rIns="300000" bIns="0" rtlCol="0" anchor="ctr"/>
          <a:lstStyle/>
          <a:p>
            <a:pPr algn="l">
              <a:lnSpc>
                <a:spcPct val="120000"/>
              </a:lnSpc>
            </a:pPr>
            <a:r>
              <a:rPr lang="ru-RU" sz="2500" b="1" dirty="0">
                <a:solidFill>
                  <a:srgbClr val="1D38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Прогнозные результаты после реализации мероприятий:</a:t>
            </a:r>
          </a:p>
          <a:p>
            <a:pPr algn="l">
              <a:lnSpc>
                <a:spcPct val="1150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Снижение текущих издержек: 3 504,23 → 3 314,55 млн сом (–189,68 млн сом)</a:t>
            </a:r>
          </a:p>
          <a:p>
            <a:pPr algn="l">
              <a:lnSpc>
                <a:spcPct val="1150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Затратоёмкость: 0,8500 → 0,8040 сом/сом (улучшение на 0,046)</a:t>
            </a:r>
          </a:p>
          <a:p>
            <a:pPr algn="l">
              <a:lnSpc>
                <a:spcPct val="115000"/>
              </a:lnSpc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Рентабельность продаж: 9,6% → ~14,0% (+4,4 п.п.)</a:t>
            </a:r>
          </a:p>
          <a:p>
            <a:pPr algn="l">
              <a:lnSpc>
                <a:spcPct val="1150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 Прибыль от операц. деят.: 637,58 → 827,25 млн сом (+29,7%)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 ВНЕДРЕНИЯ (12 МЕРОПРИЯТИЙ, 12 МЕСЯЦЕВ)</a:t>
            </a:r>
          </a:p>
        </p:txBody>
      </p:sp>
      <p:sp>
        <p:nvSpPr>
          <p:cNvPr id="4" name="Stage0"/>
          <p:cNvSpPr txBox="1"/>
          <p:nvPr/>
        </p:nvSpPr>
        <p:spPr>
          <a:xfrm>
            <a:off x="300000" y="2200000"/>
            <a:ext cx="5700000" cy="25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1</a:t>
            </a:r>
          </a:p>
          <a:p>
            <a:pPr algn="ctr">
              <a:lnSpc>
                <a:spcPct val="110000"/>
              </a:lnSpc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Месяцы 1–3
Диагностика и подготовка</a:t>
            </a:r>
          </a:p>
        </p:txBody>
      </p:sp>
      <p:sp>
        <p:nvSpPr>
          <p:cNvPr id="7" name="Steps0"/>
          <p:cNvSpPr txBox="1"/>
          <p:nvPr/>
        </p:nvSpPr>
        <p:spPr>
          <a:xfrm>
            <a:off x="300000" y="4900000"/>
            <a:ext cx="5700000" cy="52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200000" tIns="200000" rIns="200000" bIns="0" rtlCol="0" anchor="t"/>
          <a:lstStyle/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Аудит договоров с поставщиками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Разработка нормативной базы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Выделение центров ответственности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Гибкий бюджет затрат</a:t>
            </a:r>
          </a:p>
        </p:txBody>
      </p:sp>
      <p:sp>
        <p:nvSpPr>
          <p:cNvPr id="5" name="Stage1"/>
          <p:cNvSpPr txBox="1"/>
          <p:nvPr/>
        </p:nvSpPr>
        <p:spPr>
          <a:xfrm>
            <a:off x="6300000" y="2200000"/>
            <a:ext cx="5700000" cy="250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2</a:t>
            </a:r>
          </a:p>
          <a:p>
            <a:pPr algn="ctr">
              <a:lnSpc>
                <a:spcPct val="110000"/>
              </a:lnSpc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Месяцы 3–6
Внедрение инструментов</a:t>
            </a:r>
          </a:p>
        </p:txBody>
      </p:sp>
      <p:sp>
        <p:nvSpPr>
          <p:cNvPr id="8" name="Steps1"/>
          <p:cNvSpPr txBox="1"/>
          <p:nvPr/>
        </p:nvSpPr>
        <p:spPr>
          <a:xfrm>
            <a:off x="6300000" y="4900000"/>
            <a:ext cx="5700000" cy="52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200000" tIns="200000" rIns="200000" bIns="0" rtlCol="0" anchor="t"/>
          <a:lstStyle/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Заключение долгосрочных контрактов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Контроль отклонений от нормативов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Выбор и начало внедрения ERP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Разработка target costing</a:t>
            </a:r>
          </a:p>
        </p:txBody>
      </p:sp>
      <p:sp>
        <p:nvSpPr>
          <p:cNvPr id="6" name="Stage2"/>
          <p:cNvSpPr txBox="1"/>
          <p:nvPr/>
        </p:nvSpPr>
        <p:spPr>
          <a:xfrm>
            <a:off x="12265877" y="2184023"/>
            <a:ext cx="5700000" cy="25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3</a:t>
            </a:r>
          </a:p>
          <a:p>
            <a:pPr algn="ctr">
              <a:lnSpc>
                <a:spcPct val="110000"/>
              </a:lnSpc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Месяцы 6–12
Масштабирование</a:t>
            </a:r>
          </a:p>
        </p:txBody>
      </p:sp>
      <p:sp>
        <p:nvSpPr>
          <p:cNvPr id="9" name="Steps2"/>
          <p:cNvSpPr txBox="1"/>
          <p:nvPr/>
        </p:nvSpPr>
        <p:spPr>
          <a:xfrm>
            <a:off x="12300000" y="4900000"/>
            <a:ext cx="5700000" cy="5200000"/>
          </a:xfrm>
          <a:prstGeom prst="rect">
            <a:avLst/>
          </a:prstGeom>
          <a:noFill/>
          <a:ln w="25400">
            <a:solidFill>
              <a:srgbClr val="1D3880"/>
            </a:solidFill>
          </a:ln>
        </p:spPr>
        <p:txBody>
          <a:bodyPr wrap="square" lIns="200000" tIns="200000" rIns="200000" bIns="0" rtlCol="0" anchor="t"/>
          <a:lstStyle/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Завершение внедрения ERP-системы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Расширение производства жома/мелассы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Система КПЭ: ЗЕ ≤ 0,75 сом/сом</a:t>
            </a:r>
          </a:p>
          <a:p>
            <a:pPr algn="l">
              <a:lnSpc>
                <a:spcPct val="115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Оценка совокупного эффекта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8288000" cy="2000000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KG"/>
          </a:p>
        </p:txBody>
      </p:sp>
      <p:sp>
        <p:nvSpPr>
          <p:cNvPr id="3" name="Title"/>
          <p:cNvSpPr txBox="1"/>
          <p:nvPr/>
        </p:nvSpPr>
        <p:spPr>
          <a:xfrm>
            <a:off x="500000" y="150000"/>
            <a:ext cx="170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ВЫВОДЫ И РЕЗУЛЬТАТЫ РАБОТЫ</a:t>
            </a:r>
          </a:p>
        </p:txBody>
      </p:sp>
      <p:sp>
        <p:nvSpPr>
          <p:cNvPr id="4" name="N0"/>
          <p:cNvSpPr txBox="1"/>
          <p:nvPr/>
        </p:nvSpPr>
        <p:spPr>
          <a:xfrm>
            <a:off x="300000" y="2200000"/>
            <a:ext cx="600000" cy="13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5" name="T0"/>
          <p:cNvSpPr txBox="1"/>
          <p:nvPr/>
        </p:nvSpPr>
        <p:spPr>
          <a:xfrm>
            <a:off x="1100000" y="2200000"/>
            <a:ext cx="16900000" cy="1300000"/>
          </a:xfrm>
          <a:prstGeom prst="rect">
            <a:avLst/>
          </a:prstGeom>
          <a:noFill/>
          <a:ln w="12700">
            <a:solidFill>
              <a:srgbClr val="E0E4F0"/>
            </a:solidFill>
          </a:ln>
        </p:spPr>
        <p:txBody>
          <a:bodyPr wrap="square" lIns="20000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издержки ОАО «Каинды-Кант» за 2023–2025 гг. выросли в 4,68 раза (749 → 3 504 млн сом), тогда как выручка — лишь в 3,10 раза. Рентабельность продаж снизилась с 21,4% до 9,6%.</a:t>
            </a:r>
          </a:p>
        </p:txBody>
      </p:sp>
      <p:sp>
        <p:nvSpPr>
          <p:cNvPr id="6" name="N1"/>
          <p:cNvSpPr txBox="1"/>
          <p:nvPr/>
        </p:nvSpPr>
        <p:spPr>
          <a:xfrm>
            <a:off x="300000" y="3700000"/>
            <a:ext cx="600000" cy="130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7" name="T1"/>
          <p:cNvSpPr txBox="1"/>
          <p:nvPr/>
        </p:nvSpPr>
        <p:spPr>
          <a:xfrm>
            <a:off x="1100000" y="3700000"/>
            <a:ext cx="16900000" cy="1300000"/>
          </a:xfrm>
          <a:prstGeom prst="rect">
            <a:avLst/>
          </a:prstGeom>
          <a:noFill/>
          <a:ln w="12700">
            <a:solidFill>
              <a:srgbClr val="E0E4F0"/>
            </a:solidFill>
          </a:ln>
        </p:spPr>
        <p:txBody>
          <a:bodyPr wrap="square" lIns="20000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Вертикальный анализ: доля себестоимости в структуре издержек выросла с 73,5% до 92,0% (+18,5 п.п.) — критическая зависимость от стоимости сырья.</a:t>
            </a:r>
          </a:p>
        </p:txBody>
      </p:sp>
      <p:sp>
        <p:nvSpPr>
          <p:cNvPr id="8" name="N2"/>
          <p:cNvSpPr txBox="1"/>
          <p:nvPr/>
        </p:nvSpPr>
        <p:spPr>
          <a:xfrm>
            <a:off x="300000" y="5200000"/>
            <a:ext cx="600000" cy="13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9" name="T2"/>
          <p:cNvSpPr txBox="1"/>
          <p:nvPr/>
        </p:nvSpPr>
        <p:spPr>
          <a:xfrm>
            <a:off x="1100000" y="5200000"/>
            <a:ext cx="16900000" cy="1300000"/>
          </a:xfrm>
          <a:prstGeom prst="rect">
            <a:avLst/>
          </a:prstGeom>
          <a:noFill/>
          <a:ln w="12700">
            <a:solidFill>
              <a:srgbClr val="E0E4F0"/>
            </a:solidFill>
          </a:ln>
        </p:spPr>
        <p:txBody>
          <a:bodyPr wrap="square" lIns="20000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Факторный анализ установил: 95,5% прироста издержек — рост себестоимости. Рост затратоёмкости в 2024 г. обусловил потерю прибыли ~661 млн сом.</a:t>
            </a:r>
          </a:p>
        </p:txBody>
      </p:sp>
      <p:sp>
        <p:nvSpPr>
          <p:cNvPr id="10" name="N3"/>
          <p:cNvSpPr txBox="1"/>
          <p:nvPr/>
        </p:nvSpPr>
        <p:spPr>
          <a:xfrm>
            <a:off x="300000" y="6700000"/>
            <a:ext cx="600000" cy="1300000"/>
          </a:xfrm>
          <a:prstGeom prst="rect">
            <a:avLst/>
          </a:prstGeom>
          <a:solidFill>
            <a:srgbClr val="2E4FA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11" name="T3"/>
          <p:cNvSpPr txBox="1"/>
          <p:nvPr/>
        </p:nvSpPr>
        <p:spPr>
          <a:xfrm>
            <a:off x="1100000" y="6700000"/>
            <a:ext cx="16900000" cy="1300000"/>
          </a:xfrm>
          <a:prstGeom prst="rect">
            <a:avLst/>
          </a:prstGeom>
          <a:noFill/>
          <a:ln w="12700">
            <a:solidFill>
              <a:srgbClr val="E0E4F0"/>
            </a:solidFill>
          </a:ln>
        </p:spPr>
        <p:txBody>
          <a:bodyPr wrap="square" lIns="20000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комплекс рекомендаций: 5 направлений оптимизации, дорожная карта из 12 мероприятий на 12 месяцев.</a:t>
            </a:r>
          </a:p>
        </p:txBody>
      </p:sp>
      <p:sp>
        <p:nvSpPr>
          <p:cNvPr id="12" name="N4"/>
          <p:cNvSpPr txBox="1"/>
          <p:nvPr/>
        </p:nvSpPr>
        <p:spPr>
          <a:xfrm>
            <a:off x="300000" y="8200000"/>
            <a:ext cx="600000" cy="1300000"/>
          </a:xfrm>
          <a:prstGeom prst="rect">
            <a:avLst/>
          </a:prstGeom>
          <a:solidFill>
            <a:srgbClr val="1D388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</p:txBody>
      </p:sp>
      <p:sp>
        <p:nvSpPr>
          <p:cNvPr id="13" name="T4"/>
          <p:cNvSpPr txBox="1"/>
          <p:nvPr/>
        </p:nvSpPr>
        <p:spPr>
          <a:xfrm>
            <a:off x="1100000" y="8200000"/>
            <a:ext cx="16900000" cy="1300000"/>
          </a:xfrm>
          <a:prstGeom prst="rect">
            <a:avLst/>
          </a:prstGeom>
          <a:noFill/>
          <a:ln w="12700">
            <a:solidFill>
              <a:srgbClr val="E0E4F0"/>
            </a:solidFill>
          </a:ln>
        </p:spPr>
        <p:txBody>
          <a:bodyPr wrap="square" lIns="20000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 эффект: снижение издержек на 189,68 млн сом (–5,4%), рост рентабельности с 9,6% до ~14%, снижение затратоёмкости с 0,8500 до 0,8040 сом/сом.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7D677601-E5EE-1691-885F-B797CA820A35}"/>
              </a:ext>
            </a:extLst>
          </p:cNvPr>
          <p:cNvSpPr/>
          <p:nvPr/>
        </p:nvSpPr>
        <p:spPr>
          <a:xfrm>
            <a:off x="2438400" y="1181100"/>
            <a:ext cx="13411200" cy="7391400"/>
          </a:xfrm>
          <a:prstGeom prst="ellipse">
            <a:avLst/>
          </a:prstGeom>
          <a:solidFill>
            <a:srgbClr val="1D3880"/>
          </a:solidFill>
          <a:ln>
            <a:solidFill>
              <a:srgbClr val="1D38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/>
              <a:t>Спасибо за внимание!</a:t>
            </a:r>
            <a:endParaRPr lang="ru-KG" sz="7200" dirty="0"/>
          </a:p>
        </p:txBody>
      </p:sp>
    </p:spTree>
    <p:extLst>
      <p:ext uri="{BB962C8B-B14F-4D97-AF65-F5344CB8AC3E}">
        <p14:creationId xmlns:p14="http://schemas.microsoft.com/office/powerpoint/2010/main" val="284109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</Words>
  <Application>Microsoft Office PowerPoint</Application>
  <PresentationFormat>Произвольный</PresentationFormat>
  <Paragraphs>179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Times New Roman</vt:lpstr>
      <vt:lpstr>Calibri</vt:lpstr>
      <vt:lpstr>Arial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2026-04-22T03:18:05Z</dcterms:created>
  <dcterms:modified xsi:type="dcterms:W3CDTF">2026-04-22T03:27:28Z</dcterms:modified>
  <dc:identifier/>
</cp:coreProperties>
</file>